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98e922d-b988-1faa-b708-2b7a4cc3c4d4}">
          <p14:sldIdLst>
            <p14:sldId id="256"/>
            <p14:sldId id="257"/>
            <p14:sldId id="258"/>
            <p14:sldId id="259"/>
            <p14:sldId id="260"/>
          </p14:sldIdLst>
        </p14:section>
        <p14:section name="BACKGROUND" id="{60d97e64-0fd4-d4c9-90b5-3d86e109cbc3}">
          <p14:sldIdLst>
            <p14:sldId id="261"/>
            <p14:sldId id="262"/>
          </p14:sldIdLst>
        </p14:section>
        <p14:section name="DATA AND METHOD" id="{4e2f1745-cfae-f412-2da6-5ab82e0a6fda}">
          <p14:sldIdLst>
            <p14:sldId id="263"/>
            <p14:sldId id="264"/>
            <p14:sldId id="265"/>
            <p14:sldId id="266"/>
          </p14:sldIdLst>
        </p14:section>
        <p14:section name="RESULTS" id="{ed490f75-f3d7-c533-fbf1-0d6a822cd81f}">
          <p14:sldIdLst>
            <p14:sldId id="267"/>
            <p14:sldId id="268"/>
            <p14:sldId id="269"/>
            <p14:sldId id="270"/>
            <p14:sldId id="271"/>
            <p14:sldId id="272"/>
          </p14:sldIdLst>
        </p14:section>
        <p14:section name="IMPLEMENTATION AND DISCUSSION" id="{b6a8ae08-be28-f22b-c79f-defa2678fc31}">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Introduce both presenters and the topic. This project takes Paper 7 and its code, evaluates all of its methods on the real Kaggle data, and proposes a method that outperforms them. Prakrit presents the problem, related work, background, the data and the methods (slides 1 to 10); Nagasai presents the proposed method, the results and the implementation (slides 11 to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Explain the balance a clinic has to strike. About one in five patients does not attend. Booking additional patients fills those slots, but if most patients attend, the clinic works overtime. The decision recurs every session and affects the waiting list, which is why it is modelled as a Markov decision process and addressed with reinforcement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Go through the problem statement line by line. Every requirement is met on the real data: the state uses the risk band predicted by the classifier, as required; the action is the overbooking level; the reward is Paper 7's reward; and all four evaluation measures are reported on slides 12 to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Paper 7 was provided with its code. It used a simulator because the Kaggle site could not be reached when it was written. Its learned policies improved on the rule by only +1.9 to +6.3, while DP with ten times the data improved by +18.7; the learners were therefore limited by the data rather than by the algorithm. Our objective follows from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Place the study in context. Overbooking with no-shows is a classical operations research problem, and the two published baselines we compare against come from this line of work. Exploration and offline RL explain why learning from logs is difficult, and factored MDPs are the idea on which our method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Introduce the formal model behind every method in the study. The Bellman equation defines the optimal value. Because a clinic only has logs, the model is estimated from counts, and the pessimistic treatment of rarely seen actions is what later limits Paper 7's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Explain the three families compared throughout the study. DP needs the model; MC and Q-learning learn from sampled experience. The comparison of MC and Q-learning is part of the problem statement, so stress the difference: MC waits for complete episodes and has high variance, while Q-learning updates after every step but is biased by bootstrapping.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Describe the dataset and the main driver of no-shows. The classifier assigns each booked patient a probability of not attending; the state of the MDP uses the risk band of each session. The classifier is trained only on earlier weeks, so no information from the scoring weeks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Explain how the table becomes an MDP. Every policy is learned on the May sessions and evaluated on the June sessions, which it has never seen; this is what allows true performance to be measured on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Paper 7's three learners estimate the full transition model from the logs. The published baselines are simplified implementations, and their settings were tuned on the scoring weeks, which favours them. Every method is scored on the same 1,000 episodes with the same random numbers. Hand over to Nagasai for the proposed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Paper 7's learners estimate every transition separately, so the actions that matter most (booking three or four additional patients) are rarely observed. Most of the clinic, however, is known. We learn only patient behaviour, 26 parameters informed by every logged session, and derive everything else from the clinic's rules. This is a factored MDP, and MC and Q-learning can also be trained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Read the table from the top: the guideline rule, the published baselines, Paper 7's learners and the oracle, then the structured model. It attains 182.5: +12.3 over DP, +15.5 over Q-learning and +19.7 over MC (all p &lt; 0.001), and +8.92 over the oracle with ten times the data. Its margin over the single session optimiser is small (+0.51) but consistent; slide 15 shows when it grows. It also has the shortest waiting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This slide explains most clearly why the proposed method performs better. DP on the estimated MDP needs hundreds of days to approach its best value, and with 25 days it falls below the rule. The structured model attains 182.5 with 25 days because it estimates 26 parameters that every session informs.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scoring sessions are rescored after reversing recorded outcomes, so the no-show rate rises to 26.4% or falls to 13.5%. The policies are not retrained. An increase in no-shows affects the rule most; the structured model remains ahead of every method at all three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single session optimiser considers only the current session. When waiting is more costly or more patients join the list, planning across sessions pays off, and the gain grows from +0.2% to +33.3%. DP on the estimated MDP deteriorates in the busiest setting because the actions it needs are rarely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problem statement asks for this comparison. The curves show the true return of the greedy policy as learning proceeds. Q-learning ends higher than MC on both models, and both perform better on the structured model. Point out that both learners settle early on the structured model. The next slide covers the exploration 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Paper 7's schedule study, rerun on the real data. Five ways of balancing exploration and exploitation were compared for both learners. None reaches 90% of the possible improvement, because the learners level off near the solution of the fitted model; exploring inside that model cannot reveal actions that the logs never contain. The only clear effect is that near greedy exploration slows Q-learning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All code is in the public repository, folder topic7. Paper 7's code is reused without modification; our files only import and call it. A single command reruns every experiment, and the paper is generated from the results file, so no number in the paper or on these slides is typed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State these plainly. The first matters most: the data record who attended, not what a clinic decided, so the decisions are generated with Paper 7's behaviour policy. Applying the method in practice would require a clinic that can state its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Summarise in three sentences: Paper 7's methods work on real data but are limited by the logs; learning only patient behaviour removes that limitation; and the advantage grows when the clinic is busier. Then present the future work, thank the audience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References are numbered as in the paper. The dataset is [17]; the published baselines are [6] and [7]; the factored MDP idea behind the proposed method is [13]. Thank the audience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200" b="1" spc="150" kern="0" dirty="0">
                <a:solidFill>
                  <a:srgbClr val="A97C2F"/>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rtlCol="0"/>
          <a:lstStyle>
            <a:lvl1pPr algn="l" indent="0" marL="0">
              <a:buNone/>
              <a:defRPr lang="en-US" sz="2800" b="1" dirty="0">
                <a:solidFill>
                  <a:srgbClr val="1B2A4A"/>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B6770"/>
                </a:solidFill>
                <a:latin typeface="Calibri" pitchFamily="34" charset="0"/>
                <a:ea typeface="Calibri" pitchFamily="34" charset="-122"/>
                <a:cs typeface="Calibri" pitchFamily="34" charset="-120"/>
              </a:rPr>
              <a:t>Overbooking Clinic Appointments with Reinforcement Learning   |   Topic 7</a:t>
            </a:r>
            <a:endParaRPr lang="en-US" sz="1000" dirty="0"/>
          </a:p>
        </p:txBody>
      </p:sp>
      <p:sp>
        <p:nvSpPr>
          <p:cNvPr id="5" name="Text 1"/>
          <p:cNvSpPr/>
          <p:nvPr>
            <p:ph idx="103" type="body" hasCustomPrompt="1"/>
          </p:nvPr>
        </p:nvSpPr>
        <p:spPr>
          <a:xfrm>
            <a:off x="548640" y="1417320"/>
            <a:ext cx="11094415" cy="4800600"/>
          </a:xfrm>
          <a:prstGeom prst="rect">
            <a:avLst/>
          </a:prstGeom>
          <a:noFill/>
          <a:ln/>
        </p:spPr>
        <p:txBody>
          <a:bodyPr wrap="square" rtlCol="0"/>
          <a:lstStyle>
            <a:lvl1pPr indent="0" marL="0">
              <a:buNone/>
              <a:defRPr lang="en-US" sz="1800" dirty="0">
                <a:solidFill>
                  <a:srgbClr val="1F2933"/>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200" b="1" spc="150" kern="0" dirty="0">
                <a:solidFill>
                  <a:srgbClr val="A97C2F"/>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rtlCol="0"/>
          <a:lstStyle>
            <a:lvl1pPr algn="l" indent="0" marL="0">
              <a:buNone/>
              <a:defRPr lang="en-US" sz="2800" b="1" dirty="0">
                <a:solidFill>
                  <a:srgbClr val="1B2A4A"/>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B6770"/>
                </a:solidFill>
                <a:latin typeface="Calibri" pitchFamily="34" charset="0"/>
                <a:ea typeface="Calibri" pitchFamily="34" charset="-122"/>
                <a:cs typeface="Calibri" pitchFamily="34" charset="-120"/>
              </a:rPr>
              <a:t>Overbooking Clinic Appointments with Reinforcement Learning   |   Topic 7</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opic"/>
          <p:cNvSpPr txBox="1"/>
          <p:nvPr/>
        </p:nvSpPr>
        <p:spPr>
          <a:xfrm>
            <a:off x="548640" y="914400"/>
            <a:ext cx="11094415" cy="320040"/>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TOPIC 7   |   APPOINTMENT OVERBOOKING AND NO-SHOW MANAGEMENT</a:t>
            </a:r>
            <a:endParaRPr lang="en-US" sz="1300" dirty="0"/>
          </a:p>
        </p:txBody>
      </p:sp>
      <p:sp>
        <p:nvSpPr>
          <p:cNvPr id="3" name="title"/>
          <p:cNvSpPr txBox="1"/>
          <p:nvPr/>
        </p:nvSpPr>
        <p:spPr>
          <a:xfrm>
            <a:off x="548640" y="1417320"/>
            <a:ext cx="11094415" cy="13716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Overbooking Clinic Appointments with Reinforcement Learning</a:t>
            </a:r>
            <a:endParaRPr lang="en-US" sz="4000" dirty="0"/>
          </a:p>
        </p:txBody>
      </p:sp>
      <p:sp>
        <p:nvSpPr>
          <p:cNvPr id="4" name="subtitle"/>
          <p:cNvSpPr txBox="1"/>
          <p:nvPr/>
        </p:nvSpPr>
        <p:spPr>
          <a:xfrm>
            <a:off x="548640" y="2834640"/>
            <a:ext cx="11094415" cy="457200"/>
          </a:xfrm>
          <a:prstGeom prst="rect">
            <a:avLst/>
          </a:prstGeom>
          <a:noFill/>
          <a:ln/>
        </p:spPr>
        <p:txBody>
          <a:bodyPr wrap="square" lIns="0" tIns="0" rIns="0" bIns="0" rtlCol="0" anchor="ctr"/>
          <a:lstStyle/>
          <a:p>
            <a:pPr indent="0" marL="0">
              <a:buNone/>
            </a:pPr>
            <a:r>
              <a:rPr lang="en-US" sz="2000" i="1" dirty="0">
                <a:solidFill>
                  <a:srgbClr val="CADCFC"/>
                </a:solidFill>
                <a:latin typeface="Cambria" pitchFamily="34" charset="0"/>
                <a:ea typeface="Cambria" pitchFamily="34" charset="-122"/>
                <a:cs typeface="Cambria" pitchFamily="34" charset="-120"/>
              </a:rPr>
              <a:t>Exploration Schedules, Learning Efficiency and Robustness to Shifts in the No-Show Rate</a:t>
            </a:r>
            <a:endParaRPr lang="en-US" sz="2000" dirty="0"/>
          </a:p>
        </p:txBody>
      </p:sp>
      <p:sp>
        <p:nvSpPr>
          <p:cNvPr id="5" name="authors"/>
          <p:cNvSpPr txBox="1"/>
          <p:nvPr/>
        </p:nvSpPr>
        <p:spPr>
          <a:xfrm>
            <a:off x="548640" y="4206240"/>
            <a:ext cx="11094415" cy="146304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Marupaka Naga Sai Dattu (23BCE0757)</a:t>
            </a:r>
            <a:endParaRPr lang="en-US" sz="1700" dirty="0"/>
          </a:p>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Prakrit Bahl (23BCE0826)</a:t>
            </a:r>
            <a:endParaRPr lang="en-US" sz="1700" dirty="0"/>
          </a:p>
          <a:p>
            <a:pPr indent="0" marL="0">
              <a:spcAft>
                <a:spcPts val="400"/>
              </a:spcAft>
              <a:buNone/>
            </a:pPr>
            <a:r>
              <a:rPr lang="en-US" sz="1700" dirty="0">
                <a:solidFill>
                  <a:srgbClr val="FFFFFF"/>
                </a:solidFill>
                <a:latin typeface="Calibri" pitchFamily="34" charset="0"/>
                <a:ea typeface="Calibri" pitchFamily="34" charset="-122"/>
                <a:cs typeface="Calibri" pitchFamily="34" charset="-120"/>
              </a:rPr>
              <a:t>School of Computer Science and Engineering (SCOPE)</a:t>
            </a:r>
            <a:endParaRPr lang="en-US" sz="1700" dirty="0"/>
          </a:p>
          <a:p>
            <a:pPr indent="0" marL="0">
              <a:spcAft>
                <a:spcPts val="400"/>
              </a:spcAft>
              <a:buNone/>
            </a:pPr>
            <a:r>
              <a:rPr lang="en-US" sz="1700" dirty="0">
                <a:solidFill>
                  <a:srgbClr val="FFFFFF"/>
                </a:solidFill>
                <a:latin typeface="Calibri" pitchFamily="34" charset="0"/>
                <a:ea typeface="Calibri" pitchFamily="34" charset="-122"/>
                <a:cs typeface="Calibri" pitchFamily="34" charset="-120"/>
              </a:rPr>
              <a:t>Vellore Institute of Technology, Vellore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Problem Context: Patient No-Shows and Overbooking</a:t>
            </a:r>
            <a:endParaRPr lang="en-US" sz="2800" dirty="0"/>
          </a:p>
        </p:txBody>
      </p:sp>
      <p:sp>
        <p:nvSpPr>
          <p:cNvPr id="5" name="text"/>
          <p:cNvSpPr txBox="1"/>
          <p:nvPr/>
        </p:nvSpPr>
        <p:spPr>
          <a:xfrm>
            <a:off x="548640" y="1417320"/>
            <a:ext cx="7315200" cy="484632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Patient no-shows leave scheduled clinic capacity unused; in the dataset studied here, 20.2% of appointments were missed.</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Clinics therefore overbook, issuing more appointments than there are regular slots in a session.</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Booking too few additional patients leaves slots idle and lengthens the waiting list, whereas booking too many causes overtime when most patients attend.</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The appropriate number of additional bookings depends on the patients scheduled, and therefore varies from one session to the next.</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Because each decision also affects the waiting list for later sessions, the task is a sequential decision problem and is addressed with reinforcement learning (RL) [3].</a:t>
            </a:r>
            <a:endParaRPr lang="en-US" sz="1800" dirty="0"/>
          </a:p>
        </p:txBody>
      </p:sp>
      <p:sp>
        <p:nvSpPr>
          <p:cNvPr id="6" name="noshow_bg"/>
          <p:cNvSpPr/>
          <p:nvPr/>
        </p:nvSpPr>
        <p:spPr>
          <a:xfrm>
            <a:off x="8366760" y="1417320"/>
            <a:ext cx="3276295" cy="2011680"/>
          </a:xfrm>
          <a:prstGeom prst="roundRect">
            <a:avLst>
              <a:gd name="adj" fmla="val 3636"/>
            </a:avLst>
          </a:prstGeom>
          <a:solidFill>
            <a:srgbClr val="EEF2F8"/>
          </a:solidFill>
          <a:ln w="12700">
            <a:solidFill>
              <a:srgbClr val="EEF2F8"/>
            </a:solidFill>
            <a:prstDash val="solid"/>
          </a:ln>
        </p:spPr>
      </p:sp>
      <p:sp>
        <p:nvSpPr>
          <p:cNvPr id="7" name="noshow_value"/>
          <p:cNvSpPr txBox="1"/>
          <p:nvPr/>
        </p:nvSpPr>
        <p:spPr>
          <a:xfrm>
            <a:off x="8595360" y="1554480"/>
            <a:ext cx="2819095" cy="685800"/>
          </a:xfrm>
          <a:prstGeom prst="rect">
            <a:avLst/>
          </a:prstGeom>
          <a:noFill/>
          <a:ln/>
        </p:spPr>
        <p:txBody>
          <a:bodyPr wrap="square" lIns="0" tIns="0" rIns="0" bIns="0" rtlCol="0" anchor="ctr"/>
          <a:lstStyle/>
          <a:p>
            <a:pPr indent="0" marL="0">
              <a:buNone/>
            </a:pPr>
            <a:r>
              <a:rPr lang="en-US" sz="3600" b="1" dirty="0">
                <a:solidFill>
                  <a:srgbClr val="1B2A4A"/>
                </a:solidFill>
                <a:latin typeface="Cambria" pitchFamily="34" charset="0"/>
                <a:ea typeface="Cambria" pitchFamily="34" charset="-122"/>
                <a:cs typeface="Cambria" pitchFamily="34" charset="-120"/>
              </a:rPr>
              <a:t>20.2%</a:t>
            </a:r>
            <a:endParaRPr lang="en-US" sz="3600" dirty="0"/>
          </a:p>
        </p:txBody>
      </p:sp>
      <p:sp>
        <p:nvSpPr>
          <p:cNvPr id="8" name="noshow_label"/>
          <p:cNvSpPr txBox="1"/>
          <p:nvPr/>
        </p:nvSpPr>
        <p:spPr>
          <a:xfrm>
            <a:off x="8595360" y="2286000"/>
            <a:ext cx="2819095" cy="105156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of the 110,487 recorded appointments were missed</a:t>
            </a:r>
            <a:endParaRPr lang="en-US" sz="1400" dirty="0"/>
          </a:p>
        </p:txBody>
      </p:sp>
      <p:sp>
        <p:nvSpPr>
          <p:cNvPr id="9" name="actions_bg"/>
          <p:cNvSpPr/>
          <p:nvPr/>
        </p:nvSpPr>
        <p:spPr>
          <a:xfrm>
            <a:off x="8366760" y="3657600"/>
            <a:ext cx="3276295" cy="2011680"/>
          </a:xfrm>
          <a:prstGeom prst="roundRect">
            <a:avLst>
              <a:gd name="adj" fmla="val 3636"/>
            </a:avLst>
          </a:prstGeom>
          <a:solidFill>
            <a:srgbClr val="EEF2F8"/>
          </a:solidFill>
          <a:ln w="12700">
            <a:solidFill>
              <a:srgbClr val="EEF2F8"/>
            </a:solidFill>
            <a:prstDash val="solid"/>
          </a:ln>
        </p:spPr>
      </p:sp>
      <p:sp>
        <p:nvSpPr>
          <p:cNvPr id="10" name="actions_value"/>
          <p:cNvSpPr txBox="1"/>
          <p:nvPr/>
        </p:nvSpPr>
        <p:spPr>
          <a:xfrm>
            <a:off x="8595360" y="3794760"/>
            <a:ext cx="2819095" cy="685800"/>
          </a:xfrm>
          <a:prstGeom prst="rect">
            <a:avLst/>
          </a:prstGeom>
          <a:noFill/>
          <a:ln/>
        </p:spPr>
        <p:txBody>
          <a:bodyPr wrap="square" lIns="0" tIns="0" rIns="0" bIns="0" rtlCol="0" anchor="ctr"/>
          <a:lstStyle/>
          <a:p>
            <a:pPr indent="0" marL="0">
              <a:buNone/>
            </a:pPr>
            <a:r>
              <a:rPr lang="en-US" sz="3600" b="1" dirty="0">
                <a:solidFill>
                  <a:srgbClr val="1B2A4A"/>
                </a:solidFill>
                <a:latin typeface="Cambria" pitchFamily="34" charset="0"/>
                <a:ea typeface="Cambria" pitchFamily="34" charset="-122"/>
                <a:cs typeface="Cambria" pitchFamily="34" charset="-120"/>
              </a:rPr>
              <a:t>0 to 4</a:t>
            </a:r>
            <a:endParaRPr lang="en-US" sz="3600" dirty="0"/>
          </a:p>
        </p:txBody>
      </p:sp>
      <p:sp>
        <p:nvSpPr>
          <p:cNvPr id="11" name="actions_label"/>
          <p:cNvSpPr txBox="1"/>
          <p:nvPr/>
        </p:nvSpPr>
        <p:spPr>
          <a:xfrm>
            <a:off x="8595360" y="4526280"/>
            <a:ext cx="2819095" cy="105156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additional patients that the clinic may book before each session</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Problem Statement and How It Is Addressed</a:t>
            </a:r>
            <a:endParaRPr lang="en-US" sz="2800" dirty="0"/>
          </a:p>
        </p:txBody>
      </p:sp>
      <p:graphicFrame>
        <p:nvGraphicFramePr>
          <p:cNvPr id="4" name="statement"/>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7162495"/>
              </a:tblGrid>
              <a:tr h="64008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Requirement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How this work addresses it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Dataset: Medical Appointment No Shows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All reported results are computed on the public Kaggle table of 110,487 appointments recorded in 2016 [17].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State: slots filled and predicted no-show risk band</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Slots filled (3 bands) × risk band predicted by a calibrated classifier (4) × waiting list band (5), giving 60 states.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Action: overbooking level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Between 0 and 4 additional patients are booked before each session (5 actions).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Reward: utilisation less waiting and overtime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shows − 3 × overtime − 0.5 × idle slots − 0.4 × waiting list + 0.3 × patients admitted from the waiting list, as in Paper 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Futuristic angle: adaptation to patient behaviour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The policy responds to the predicted risk of each session and to the waiting list, and is evaluated under shifts in the no-show rate.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Evaluation: utilisation, waiting, overtime, convergence of MC and Q-learning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All four measures are reported on scoring weeks never used for learning (slides 12 to 17).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Paper 7: The Baseline Study</a:t>
            </a:r>
            <a:endParaRPr lang="en-US" sz="2800" dirty="0"/>
          </a:p>
        </p:txBody>
      </p:sp>
      <p:sp>
        <p:nvSpPr>
          <p:cNvPr id="5" name="scope_bg"/>
          <p:cNvSpPr/>
          <p:nvPr/>
        </p:nvSpPr>
        <p:spPr>
          <a:xfrm>
            <a:off x="548640" y="1417320"/>
            <a:ext cx="6675120" cy="3154680"/>
          </a:xfrm>
          <a:prstGeom prst="roundRect">
            <a:avLst>
              <a:gd name="adj" fmla="val 2319"/>
            </a:avLst>
          </a:prstGeom>
          <a:solidFill>
            <a:srgbClr val="EEF2F8"/>
          </a:solidFill>
          <a:ln w="12700">
            <a:solidFill>
              <a:srgbClr val="EEF2F8"/>
            </a:solidFill>
            <a:prstDash val="solid"/>
          </a:ln>
        </p:spPr>
      </p:sp>
      <p:sp>
        <p:nvSpPr>
          <p:cNvPr id="6" name="scope_head"/>
          <p:cNvSpPr txBox="1"/>
          <p:nvPr/>
        </p:nvSpPr>
        <p:spPr>
          <a:xfrm>
            <a:off x="777240" y="1600200"/>
            <a:ext cx="621792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Scope of the original study</a:t>
            </a:r>
            <a:endParaRPr lang="en-US" sz="1800" dirty="0"/>
          </a:p>
        </p:txBody>
      </p:sp>
      <p:sp>
        <p:nvSpPr>
          <p:cNvPr id="7" name="scope_text"/>
          <p:cNvSpPr txBox="1"/>
          <p:nvPr/>
        </p:nvSpPr>
        <p:spPr>
          <a:xfrm>
            <a:off x="777240" y="2057400"/>
            <a:ext cx="621792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Formulated overbooking as a Markov decision process (MDP) with 100 states and 5 actions.</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Evaluated all methods on a simulator specified by hand that reproduces the columns of the dataset, as the Kaggle site could not be accessed at the time.</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Learned policies from 150 logged clinic days using dynamic programming (DP), Monte Carlo (MC) control and Q-learning.</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Compared five exploration schedules and examined robustness to a change in the no-show rate.</a:t>
            </a:r>
            <a:endParaRPr lang="en-US" sz="1500" dirty="0"/>
          </a:p>
        </p:txBody>
      </p:sp>
      <p:sp>
        <p:nvSpPr>
          <p:cNvPr id="8" name="found_bg"/>
          <p:cNvSpPr/>
          <p:nvPr/>
        </p:nvSpPr>
        <p:spPr>
          <a:xfrm>
            <a:off x="7452360" y="1417320"/>
            <a:ext cx="4190695" cy="3154680"/>
          </a:xfrm>
          <a:prstGeom prst="roundRect">
            <a:avLst>
              <a:gd name="adj" fmla="val 2319"/>
            </a:avLst>
          </a:prstGeom>
          <a:solidFill>
            <a:srgbClr val="EEF2F8"/>
          </a:solidFill>
          <a:ln w="12700">
            <a:solidFill>
              <a:srgbClr val="EEF2F8"/>
            </a:solidFill>
            <a:prstDash val="solid"/>
          </a:ln>
        </p:spPr>
      </p:sp>
      <p:sp>
        <p:nvSpPr>
          <p:cNvPr id="9" name="found_head"/>
          <p:cNvSpPr txBox="1"/>
          <p:nvPr/>
        </p:nvSpPr>
        <p:spPr>
          <a:xfrm>
            <a:off x="7680960" y="1600200"/>
            <a:ext cx="373349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Reported returns (simulator)</a:t>
            </a:r>
            <a:endParaRPr lang="en-US" sz="1800" dirty="0"/>
          </a:p>
        </p:txBody>
      </p:sp>
      <p:graphicFrame>
        <p:nvGraphicFramePr>
          <p:cNvPr id="5" name="paper7"/>
          <p:cNvGraphicFramePr>
            <a:graphicFrameLocks noGrp="1"/>
          </p:cNvGraphicFramePr>
          <p:nvPr>
            <p:extLst>
              <p:ext uri="{D42A27DB-BD31-4B8C-83A1-F6EECF244321}">
                <p14:modId xmlns:p14="http://schemas.microsoft.com/office/powerpoint/2010/main" val="1579011935"/>
              </p:ext>
            </p:extLst>
          </p:nvPr>
        </p:nvGraphicFramePr>
        <p:xfrm>
          <a:off x="7680960" y="2057400"/>
          <a:ext cx="3730752" cy="914400"/>
        </p:xfrm>
        <a:graphic>
          <a:graphicData uri="http://schemas.openxmlformats.org/drawingml/2006/table">
            <a:tbl>
              <a:tblPr/>
              <a:tblGrid>
                <a:gridCol w="2651760"/>
                <a:gridCol w="1078992"/>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Return</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Guideline rule</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160.3</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DP on estimated MDP</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162.2</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Monte Carlo control</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166.6</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Q-learning</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164.4</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Oracle DP (10x data)</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179.0</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bl>
          </a:graphicData>
        </a:graphic>
      </p:graphicFrame>
      <p:sp>
        <p:nvSpPr>
          <p:cNvPr id="11" name="gap_bg"/>
          <p:cNvSpPr/>
          <p:nvPr/>
        </p:nvSpPr>
        <p:spPr>
          <a:xfrm>
            <a:off x="548640" y="4800600"/>
            <a:ext cx="11094415" cy="1463040"/>
          </a:xfrm>
          <a:prstGeom prst="roundRect">
            <a:avLst>
              <a:gd name="adj" fmla="val 5000"/>
            </a:avLst>
          </a:prstGeom>
          <a:solidFill>
            <a:srgbClr val="F8EEDA"/>
          </a:solidFill>
          <a:ln w="12700">
            <a:solidFill>
              <a:srgbClr val="F8EEDA"/>
            </a:solidFill>
            <a:prstDash val="solid"/>
          </a:ln>
        </p:spPr>
      </p:sp>
      <p:sp>
        <p:nvSpPr>
          <p:cNvPr id="12" name="gap_text"/>
          <p:cNvSpPr txBox="1"/>
          <p:nvPr/>
        </p:nvSpPr>
        <p:spPr>
          <a:xfrm>
            <a:off x="777240" y="4983480"/>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600" b="1" dirty="0">
                <a:solidFill>
                  <a:srgbClr val="1F2933"/>
                </a:solidFill>
                <a:latin typeface="Calibri" pitchFamily="34" charset="0"/>
                <a:ea typeface="Calibri" pitchFamily="34" charset="-122"/>
                <a:cs typeface="Calibri" pitchFamily="34" charset="-120"/>
              </a:rPr>
              <a:t>Identified gap: </a:t>
            </a:r>
            <a:r>
              <a:rPr lang="en-US" sz="1600" dirty="0">
                <a:solidFill>
                  <a:srgbClr val="1F2933"/>
                </a:solidFill>
                <a:latin typeface="Calibri" pitchFamily="34" charset="0"/>
                <a:ea typeface="Calibri" pitchFamily="34" charset="-122"/>
                <a:cs typeface="Calibri" pitchFamily="34" charset="-120"/>
              </a:rPr>
              <a:t>the learned policies improved on the guideline rule by only +1.9 to +6.3, whereas DP with ten times as much data improved on it by +18.7; no real data were used.</a:t>
            </a:r>
            <a:endParaRPr lang="en-US" sz="1600" dirty="0"/>
          </a:p>
          <a:p>
            <a:pPr marL="228600" indent="-228600">
              <a:spcAft>
                <a:spcPts val="800"/>
              </a:spcAft>
              <a:buSzPct val="100000"/>
              <a:buChar char="•"/>
            </a:pPr>
            <a:r>
              <a:rPr lang="en-US" sz="1600" b="1" dirty="0">
                <a:solidFill>
                  <a:srgbClr val="1F2933"/>
                </a:solidFill>
                <a:latin typeface="Calibri" pitchFamily="34" charset="0"/>
                <a:ea typeface="Calibri" pitchFamily="34" charset="-122"/>
                <a:cs typeface="Calibri" pitchFamily="34" charset="-120"/>
              </a:rPr>
              <a:t>Objective of this work: </a:t>
            </a:r>
            <a:r>
              <a:rPr lang="en-US" sz="1600" dirty="0">
                <a:solidFill>
                  <a:srgbClr val="1F2933"/>
                </a:solidFill>
                <a:latin typeface="Calibri" pitchFamily="34" charset="0"/>
                <a:ea typeface="Calibri" pitchFamily="34" charset="-122"/>
                <a:cs typeface="Calibri" pitchFamily="34" charset="-120"/>
              </a:rPr>
              <a:t>to evaluate Paper 7's methods on the real dataset, to propose a method that outperforms them, and to report both in the same paper.</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Related Work</a:t>
            </a:r>
            <a:endParaRPr lang="en-US" sz="2800" dirty="0"/>
          </a:p>
        </p:txBody>
      </p:sp>
      <p:sp>
        <p:nvSpPr>
          <p:cNvPr id="5" name="rw0_bg"/>
          <p:cNvSpPr/>
          <p:nvPr/>
        </p:nvSpPr>
        <p:spPr>
          <a:xfrm>
            <a:off x="548640" y="1417320"/>
            <a:ext cx="11094415" cy="1261872"/>
          </a:xfrm>
          <a:prstGeom prst="roundRect">
            <a:avLst>
              <a:gd name="adj" fmla="val 5797"/>
            </a:avLst>
          </a:prstGeom>
          <a:solidFill>
            <a:srgbClr val="EEF2F8"/>
          </a:solidFill>
          <a:ln w="12700">
            <a:solidFill>
              <a:srgbClr val="EEF2F8"/>
            </a:solidFill>
            <a:prstDash val="solid"/>
          </a:ln>
        </p:spPr>
      </p:sp>
      <p:sp>
        <p:nvSpPr>
          <p:cNvPr id="6" name="rw0_head"/>
          <p:cNvSpPr txBox="1"/>
          <p:nvPr/>
        </p:nvSpPr>
        <p:spPr>
          <a:xfrm>
            <a:off x="777240" y="1417320"/>
            <a:ext cx="2651760" cy="1261872"/>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Appointment scheduling and overbooking</a:t>
            </a:r>
            <a:endParaRPr lang="en-US" sz="1700" dirty="0"/>
          </a:p>
        </p:txBody>
      </p:sp>
      <p:sp>
        <p:nvSpPr>
          <p:cNvPr id="7" name="rw0_text"/>
          <p:cNvSpPr txBox="1"/>
          <p:nvPr/>
        </p:nvSpPr>
        <p:spPr>
          <a:xfrm>
            <a:off x="3657600" y="1572768"/>
            <a:ext cx="7756855" cy="1033272"/>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3"/>
                </a:solidFill>
                <a:latin typeface="Calibri" pitchFamily="34" charset="0"/>
                <a:ea typeface="Calibri" pitchFamily="34" charset="-122"/>
                <a:cs typeface="Calibri" pitchFamily="34" charset="-120"/>
              </a:rPr>
              <a:t>Appointment systems, no-shows, overbooking and the balance between waiting and overtime are well studied in operations research [1, 2].</a:t>
            </a:r>
            <a:endParaRPr lang="en-US" sz="1500" dirty="0"/>
          </a:p>
          <a:p>
            <a:pPr marL="228600" indent="-228600">
              <a:spcAft>
                <a:spcPts val="600"/>
              </a:spcAft>
              <a:buSzPct val="100000"/>
              <a:buChar char="•"/>
            </a:pPr>
            <a:r>
              <a:rPr lang="en-US" sz="1500" dirty="0">
                <a:solidFill>
                  <a:srgbClr val="1F2933"/>
                </a:solidFill>
                <a:latin typeface="Calibri" pitchFamily="34" charset="0"/>
                <a:ea typeface="Calibri" pitchFamily="34" charset="-122"/>
                <a:cs typeface="Calibri" pitchFamily="34" charset="-120"/>
              </a:rPr>
              <a:t>Predicted no-show probabilities have been combined with single session overbooking [6], and fixed risk thresholds for double booking are the baseline for learned policies [7].</a:t>
            </a:r>
            <a:endParaRPr lang="en-US" sz="1500" dirty="0"/>
          </a:p>
        </p:txBody>
      </p:sp>
      <p:sp>
        <p:nvSpPr>
          <p:cNvPr id="8" name="rw1_bg"/>
          <p:cNvSpPr/>
          <p:nvPr/>
        </p:nvSpPr>
        <p:spPr>
          <a:xfrm>
            <a:off x="548640" y="2788920"/>
            <a:ext cx="11094415" cy="1261872"/>
          </a:xfrm>
          <a:prstGeom prst="roundRect">
            <a:avLst>
              <a:gd name="adj" fmla="val 5797"/>
            </a:avLst>
          </a:prstGeom>
          <a:solidFill>
            <a:srgbClr val="EEF2F8"/>
          </a:solidFill>
          <a:ln w="12700">
            <a:solidFill>
              <a:srgbClr val="EEF2F8"/>
            </a:solidFill>
            <a:prstDash val="solid"/>
          </a:ln>
        </p:spPr>
      </p:sp>
      <p:sp>
        <p:nvSpPr>
          <p:cNvPr id="9" name="rw1_head"/>
          <p:cNvSpPr txBox="1"/>
          <p:nvPr/>
        </p:nvSpPr>
        <p:spPr>
          <a:xfrm>
            <a:off x="777240" y="2788920"/>
            <a:ext cx="2651760" cy="1261872"/>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Exploration in reinforcement learning</a:t>
            </a:r>
            <a:endParaRPr lang="en-US" sz="1700" dirty="0"/>
          </a:p>
        </p:txBody>
      </p:sp>
      <p:sp>
        <p:nvSpPr>
          <p:cNvPr id="10" name="rw1_text"/>
          <p:cNvSpPr txBox="1"/>
          <p:nvPr/>
        </p:nvSpPr>
        <p:spPr>
          <a:xfrm>
            <a:off x="3657600" y="2944368"/>
            <a:ext cx="7756855" cy="1033272"/>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3"/>
                </a:solidFill>
                <a:latin typeface="Calibri" pitchFamily="34" charset="0"/>
                <a:ea typeface="Calibri" pitchFamily="34" charset="-122"/>
                <a:cs typeface="Calibri" pitchFamily="34" charset="-120"/>
              </a:rPr>
              <a:t>Epsilon greedy exploration, decaying schedules and optimistic initial values are the standard devices [3]; R-max makes optimism explicit [5].</a:t>
            </a:r>
            <a:endParaRPr lang="en-US" sz="1500" dirty="0"/>
          </a:p>
          <a:p>
            <a:pPr marL="228600" indent="-228600">
              <a:spcAft>
                <a:spcPts val="600"/>
              </a:spcAft>
              <a:buSzPct val="100000"/>
              <a:buChar char="•"/>
            </a:pPr>
            <a:r>
              <a:rPr lang="en-US" sz="1500" dirty="0">
                <a:solidFill>
                  <a:srgbClr val="1F2933"/>
                </a:solidFill>
                <a:latin typeface="Calibri" pitchFamily="34" charset="0"/>
                <a:ea typeface="Calibri" pitchFamily="34" charset="-122"/>
                <a:cs typeface="Calibri" pitchFamily="34" charset="-120"/>
              </a:rPr>
              <a:t>Q-learning converges under conditions on its step size [8, 9]; other methods need schedules that are greedy in the limit with infinite exploration [4].</a:t>
            </a:r>
            <a:endParaRPr lang="en-US" sz="1500" dirty="0"/>
          </a:p>
        </p:txBody>
      </p:sp>
      <p:sp>
        <p:nvSpPr>
          <p:cNvPr id="11" name="rw2_bg"/>
          <p:cNvSpPr/>
          <p:nvPr/>
        </p:nvSpPr>
        <p:spPr>
          <a:xfrm>
            <a:off x="548640" y="4160520"/>
            <a:ext cx="11094415" cy="1261872"/>
          </a:xfrm>
          <a:prstGeom prst="roundRect">
            <a:avLst>
              <a:gd name="adj" fmla="val 5797"/>
            </a:avLst>
          </a:prstGeom>
          <a:solidFill>
            <a:srgbClr val="EEF2F8"/>
          </a:solidFill>
          <a:ln w="12700">
            <a:solidFill>
              <a:srgbClr val="EEF2F8"/>
            </a:solidFill>
            <a:prstDash val="solid"/>
          </a:ln>
        </p:spPr>
      </p:sp>
      <p:sp>
        <p:nvSpPr>
          <p:cNvPr id="12" name="rw2_head"/>
          <p:cNvSpPr txBox="1"/>
          <p:nvPr/>
        </p:nvSpPr>
        <p:spPr>
          <a:xfrm>
            <a:off x="777240" y="4160520"/>
            <a:ext cx="2651760" cy="1261872"/>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Offline RL, shift and structure</a:t>
            </a:r>
            <a:endParaRPr lang="en-US" sz="1700" dirty="0"/>
          </a:p>
        </p:txBody>
      </p:sp>
      <p:sp>
        <p:nvSpPr>
          <p:cNvPr id="13" name="rw2_text"/>
          <p:cNvSpPr txBox="1"/>
          <p:nvPr/>
        </p:nvSpPr>
        <p:spPr>
          <a:xfrm>
            <a:off x="3657600" y="4315968"/>
            <a:ext cx="7756855" cy="1033272"/>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3"/>
                </a:solidFill>
                <a:latin typeface="Calibri" pitchFamily="34" charset="0"/>
                <a:ea typeface="Calibri" pitchFamily="34" charset="-122"/>
                <a:cs typeface="Calibri" pitchFamily="34" charset="-120"/>
              </a:rPr>
              <a:t>Learning from logs is limited by data coverage and sensitive to model error, which motivates pessimism and support constraints [10, 11, 12].</a:t>
            </a:r>
            <a:endParaRPr lang="en-US" sz="1500" dirty="0"/>
          </a:p>
          <a:p>
            <a:pPr marL="228600" indent="-228600">
              <a:spcAft>
                <a:spcPts val="600"/>
              </a:spcAft>
              <a:buSzPct val="100000"/>
              <a:buChar char="•"/>
            </a:pPr>
            <a:r>
              <a:rPr lang="en-US" sz="1500" dirty="0">
                <a:solidFill>
                  <a:srgbClr val="1F2933"/>
                </a:solidFill>
                <a:latin typeface="Calibri" pitchFamily="34" charset="0"/>
                <a:ea typeface="Calibri" pitchFamily="34" charset="-122"/>
                <a:cs typeface="Calibri" pitchFamily="34" charset="-120"/>
              </a:rPr>
              <a:t>In a factored MDP the transition model is assembled from separately specified parts of the state [13]; this is the idea behind the proposed structured model.</a:t>
            </a:r>
            <a:endParaRPr lang="en-US" sz="1500" dirty="0"/>
          </a:p>
        </p:txBody>
      </p:sp>
      <p:sp>
        <p:nvSpPr>
          <p:cNvPr id="14" name="position_bg"/>
          <p:cNvSpPr/>
          <p:nvPr/>
        </p:nvSpPr>
        <p:spPr>
          <a:xfrm>
            <a:off x="548640" y="5532120"/>
            <a:ext cx="11094415" cy="731520"/>
          </a:xfrm>
          <a:prstGeom prst="roundRect">
            <a:avLst>
              <a:gd name="adj" fmla="val 10000"/>
            </a:avLst>
          </a:prstGeom>
          <a:solidFill>
            <a:srgbClr val="F8EEDA"/>
          </a:solidFill>
          <a:ln w="12700">
            <a:solidFill>
              <a:srgbClr val="F8EEDA"/>
            </a:solidFill>
            <a:prstDash val="solid"/>
          </a:ln>
        </p:spPr>
      </p:sp>
      <p:sp>
        <p:nvSpPr>
          <p:cNvPr id="15" name="position_text"/>
          <p:cNvSpPr txBox="1"/>
          <p:nvPr/>
        </p:nvSpPr>
        <p:spPr>
          <a:xfrm>
            <a:off x="777240" y="5715000"/>
            <a:ext cx="10637215" cy="411480"/>
          </a:xfrm>
          <a:prstGeom prst="rect">
            <a:avLst/>
          </a:prstGeom>
          <a:noFill/>
          <a:ln/>
        </p:spPr>
        <p:txBody>
          <a:bodyPr wrap="square" lIns="0" tIns="0" rIns="0" bIns="0" rtlCol="0" anchor="t"/>
          <a:lstStyle/>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Position of this work: </a:t>
            </a:r>
            <a:r>
              <a:rPr lang="en-US" sz="1500" dirty="0">
                <a:solidFill>
                  <a:srgbClr val="1F2933"/>
                </a:solidFill>
                <a:latin typeface="Calibri" pitchFamily="34" charset="0"/>
                <a:ea typeface="Calibri" pitchFamily="34" charset="-122"/>
                <a:cs typeface="Calibri" pitchFamily="34" charset="-120"/>
              </a:rPr>
              <a:t>not a new scheduling model, but a study of how RL learners behave on real logged data, and of how much they gain from a model that knows the clinic's rules.</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02   BACKGROUND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Background: Markov Decision Processes</a:t>
            </a:r>
            <a:endParaRPr lang="en-US" sz="2800" dirty="0"/>
          </a:p>
        </p:txBody>
      </p:sp>
      <p:sp>
        <p:nvSpPr>
          <p:cNvPr id="5" name="definition_bg"/>
          <p:cNvSpPr/>
          <p:nvPr/>
        </p:nvSpPr>
        <p:spPr>
          <a:xfrm>
            <a:off x="548640" y="1417320"/>
            <a:ext cx="6035040" cy="4800600"/>
          </a:xfrm>
          <a:prstGeom prst="roundRect">
            <a:avLst>
              <a:gd name="adj" fmla="val 1524"/>
            </a:avLst>
          </a:prstGeom>
          <a:solidFill>
            <a:srgbClr val="EEF2F8"/>
          </a:solidFill>
          <a:ln w="12700">
            <a:solidFill>
              <a:srgbClr val="EEF2F8"/>
            </a:solidFill>
            <a:prstDash val="solid"/>
          </a:ln>
        </p:spPr>
      </p:sp>
      <p:sp>
        <p:nvSpPr>
          <p:cNvPr id="6" name="definition_head"/>
          <p:cNvSpPr txBox="1"/>
          <p:nvPr/>
        </p:nvSpPr>
        <p:spPr>
          <a:xfrm>
            <a:off x="777240" y="1600200"/>
            <a:ext cx="557784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Definition</a:t>
            </a:r>
            <a:endParaRPr lang="en-US" sz="1800" dirty="0"/>
          </a:p>
        </p:txBody>
      </p:sp>
      <p:sp>
        <p:nvSpPr>
          <p:cNvPr id="7" name="definition_text"/>
          <p:cNvSpPr txBox="1"/>
          <p:nvPr/>
        </p:nvSpPr>
        <p:spPr>
          <a:xfrm>
            <a:off x="777240" y="2057400"/>
            <a:ext cx="5577840" cy="40233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A finite MDP is a tuple (S, A, P, R, γ): states, actions, transition probabilities P(s′ | s, a), expected rewards R(s, a) and a discount factor γ in [0, 1).</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A policy π maps each state to an action; its value is the expected discounted return obtained from each state when π is followed [3, 14, 15].</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The optimal value V* satisfies the Bellman optimality equation, and an optimal policy acts greedily with respect to it.</a:t>
            </a:r>
            <a:endParaRPr lang="en-US" sz="1600" dirty="0"/>
          </a:p>
        </p:txBody>
      </p:sp>
      <p:sp>
        <p:nvSpPr>
          <p:cNvPr id="8" name="bellman_bg"/>
          <p:cNvSpPr/>
          <p:nvPr/>
        </p:nvSpPr>
        <p:spPr>
          <a:xfrm>
            <a:off x="777240" y="4937760"/>
            <a:ext cx="5577840" cy="960120"/>
          </a:xfrm>
          <a:prstGeom prst="roundRect">
            <a:avLst>
              <a:gd name="adj" fmla="val 5714"/>
            </a:avLst>
          </a:prstGeom>
          <a:solidFill>
            <a:srgbClr val="FFFFFF"/>
          </a:solidFill>
          <a:ln w="9525">
            <a:solidFill>
              <a:srgbClr val="C9D2DE"/>
            </a:solidFill>
            <a:prstDash val="solid"/>
          </a:ln>
        </p:spPr>
      </p:sp>
      <p:sp>
        <p:nvSpPr>
          <p:cNvPr id="9" name="bellman"/>
          <p:cNvSpPr txBox="1"/>
          <p:nvPr/>
        </p:nvSpPr>
        <p:spPr>
          <a:xfrm>
            <a:off x="777240" y="4937760"/>
            <a:ext cx="5577840" cy="960120"/>
          </a:xfrm>
          <a:prstGeom prst="rect">
            <a:avLst/>
          </a:prstGeom>
          <a:noFill/>
          <a:ln/>
        </p:spPr>
        <p:txBody>
          <a:bodyPr wrap="square" lIns="0" tIns="0" rIns="0" bIns="0" rtlCol="0" anchor="ctr"/>
          <a:lstStyle/>
          <a:p>
            <a:pPr algn="ctr" indent="0" marL="0">
              <a:buNone/>
            </a:pPr>
            <a:r>
              <a:rPr lang="en-US" sz="1900" i="1" dirty="0">
                <a:solidFill>
                  <a:srgbClr val="1B2A4A"/>
                </a:solidFill>
                <a:latin typeface="Cambria" pitchFamily="34" charset="0"/>
                <a:ea typeface="Cambria" pitchFamily="34" charset="-122"/>
                <a:cs typeface="Cambria" pitchFamily="34" charset="-120"/>
              </a:rPr>
              <a:t>V*(s) = max</a:t>
            </a:r>
            <a:r>
              <a:rPr lang="en-US" sz="1900" i="1" baseline="-40000" dirty="0">
                <a:solidFill>
                  <a:srgbClr val="1B2A4A"/>
                </a:solidFill>
                <a:latin typeface="Cambria" pitchFamily="34" charset="0"/>
                <a:ea typeface="Cambria" pitchFamily="34" charset="-122"/>
                <a:cs typeface="Cambria" pitchFamily="34" charset="-120"/>
              </a:rPr>
              <a:t>a</a:t>
            </a:r>
            <a:r>
              <a:rPr lang="en-US" sz="1900" i="1" dirty="0">
                <a:solidFill>
                  <a:srgbClr val="1B2A4A"/>
                </a:solidFill>
                <a:latin typeface="Cambria" pitchFamily="34" charset="0"/>
                <a:ea typeface="Cambria" pitchFamily="34" charset="-122"/>
                <a:cs typeface="Cambria" pitchFamily="34" charset="-120"/>
              </a:rPr>
              <a:t> [ R(s, a) + γ Σ</a:t>
            </a:r>
            <a:r>
              <a:rPr lang="en-US" sz="1900" i="1" baseline="-40000" dirty="0">
                <a:solidFill>
                  <a:srgbClr val="1B2A4A"/>
                </a:solidFill>
                <a:latin typeface="Cambria" pitchFamily="34" charset="0"/>
                <a:ea typeface="Cambria" pitchFamily="34" charset="-122"/>
                <a:cs typeface="Cambria" pitchFamily="34" charset="-120"/>
              </a:rPr>
              <a:t>s′</a:t>
            </a:r>
            <a:r>
              <a:rPr lang="en-US" sz="1900" i="1" dirty="0">
                <a:solidFill>
                  <a:srgbClr val="1B2A4A"/>
                </a:solidFill>
                <a:latin typeface="Cambria" pitchFamily="34" charset="0"/>
                <a:ea typeface="Cambria" pitchFamily="34" charset="-122"/>
                <a:cs typeface="Cambria" pitchFamily="34" charset="-120"/>
              </a:rPr>
              <a:t> P(s′ | s, a) V*(s′) ]</a:t>
            </a:r>
            <a:endParaRPr lang="en-US" sz="1900" dirty="0"/>
          </a:p>
        </p:txBody>
      </p:sp>
      <p:sp>
        <p:nvSpPr>
          <p:cNvPr id="10" name="empirical_bg"/>
          <p:cNvSpPr/>
          <p:nvPr/>
        </p:nvSpPr>
        <p:spPr>
          <a:xfrm>
            <a:off x="6812280" y="1417320"/>
            <a:ext cx="4830775" cy="4800600"/>
          </a:xfrm>
          <a:prstGeom prst="roundRect">
            <a:avLst>
              <a:gd name="adj" fmla="val 1524"/>
            </a:avLst>
          </a:prstGeom>
          <a:solidFill>
            <a:srgbClr val="EEF2F8"/>
          </a:solidFill>
          <a:ln w="12700">
            <a:solidFill>
              <a:srgbClr val="EEF2F8"/>
            </a:solidFill>
            <a:prstDash val="solid"/>
          </a:ln>
        </p:spPr>
      </p:sp>
      <p:sp>
        <p:nvSpPr>
          <p:cNvPr id="11" name="empirical_head"/>
          <p:cNvSpPr txBox="1"/>
          <p:nvPr/>
        </p:nvSpPr>
        <p:spPr>
          <a:xfrm>
            <a:off x="7040880" y="1600200"/>
            <a:ext cx="437357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MDPs estimated from logged data</a:t>
            </a:r>
            <a:endParaRPr lang="en-US" sz="1800" dirty="0"/>
          </a:p>
        </p:txBody>
      </p:sp>
      <p:sp>
        <p:nvSpPr>
          <p:cNvPr id="12" name="empirical_text"/>
          <p:cNvSpPr txBox="1"/>
          <p:nvPr/>
        </p:nvSpPr>
        <p:spPr>
          <a:xfrm>
            <a:off x="7040880" y="2057400"/>
            <a:ext cx="4373575" cy="40233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Clinical data are logged: transitions (s, a, r, s′) are observed, and counts give P̂(s′ | s, a) = N(s, a, s′) / N(s, a).</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Solving the estimated MDP by DP gives a policy directly; MC and Q-learning learn from experience sampled from it, without involving patients.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Pairs observed fewer than 10 times are treated pessimistically, because planning on an estimated model is easily misled by its errors [10, 11, 12].</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02   BACKGROUND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Background: The Three Solution Methods</a:t>
            </a:r>
            <a:endParaRPr lang="en-US" sz="2800" dirty="0"/>
          </a:p>
        </p:txBody>
      </p:sp>
      <p:sp>
        <p:nvSpPr>
          <p:cNvPr id="5" name="m0_bg"/>
          <p:cNvSpPr/>
          <p:nvPr/>
        </p:nvSpPr>
        <p:spPr>
          <a:xfrm>
            <a:off x="548640" y="1417320"/>
            <a:ext cx="3515258" cy="3794760"/>
          </a:xfrm>
          <a:prstGeom prst="roundRect">
            <a:avLst>
              <a:gd name="adj" fmla="val 2081"/>
            </a:avLst>
          </a:prstGeom>
          <a:solidFill>
            <a:srgbClr val="EEF2F8"/>
          </a:solidFill>
          <a:ln w="12700">
            <a:solidFill>
              <a:srgbClr val="EEF2F8"/>
            </a:solidFill>
            <a:prstDash val="solid"/>
          </a:ln>
        </p:spPr>
      </p:sp>
      <p:sp>
        <p:nvSpPr>
          <p:cNvPr id="6" name="m0_head"/>
          <p:cNvSpPr txBox="1"/>
          <p:nvPr/>
        </p:nvSpPr>
        <p:spPr>
          <a:xfrm>
            <a:off x="777240"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Dynamic programming (DP)</a:t>
            </a:r>
            <a:endParaRPr lang="en-US" sz="1800" dirty="0"/>
          </a:p>
        </p:txBody>
      </p:sp>
      <p:sp>
        <p:nvSpPr>
          <p:cNvPr id="7" name="m0_text"/>
          <p:cNvSpPr txBox="1"/>
          <p:nvPr/>
        </p:nvSpPr>
        <p:spPr>
          <a:xfrm>
            <a:off x="777240" y="2057400"/>
            <a:ext cx="3058058" cy="30175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Requires the model (P, R) and computes V* as the fixed point of the Bellman equation.</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Value iteration repeats the Bellman update until the change falls below a tolerance.</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Policy iteration alternates exact evaluation with greedy improvement; both give policies of equal value here.</a:t>
            </a:r>
            <a:endParaRPr lang="en-US" sz="1500" dirty="0"/>
          </a:p>
        </p:txBody>
      </p:sp>
      <p:sp>
        <p:nvSpPr>
          <p:cNvPr id="8" name="m1_bg"/>
          <p:cNvSpPr/>
          <p:nvPr/>
        </p:nvSpPr>
        <p:spPr>
          <a:xfrm>
            <a:off x="4338218" y="1417320"/>
            <a:ext cx="3515258" cy="3794760"/>
          </a:xfrm>
          <a:prstGeom prst="roundRect">
            <a:avLst>
              <a:gd name="adj" fmla="val 2081"/>
            </a:avLst>
          </a:prstGeom>
          <a:solidFill>
            <a:srgbClr val="EEF2F8"/>
          </a:solidFill>
          <a:ln w="12700">
            <a:solidFill>
              <a:srgbClr val="EEF2F8"/>
            </a:solidFill>
            <a:prstDash val="solid"/>
          </a:ln>
        </p:spPr>
      </p:sp>
      <p:sp>
        <p:nvSpPr>
          <p:cNvPr id="9" name="m1_head"/>
          <p:cNvSpPr txBox="1"/>
          <p:nvPr/>
        </p:nvSpPr>
        <p:spPr>
          <a:xfrm>
            <a:off x="4566818"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Monte Carlo (MC) control</a:t>
            </a:r>
            <a:endParaRPr lang="en-US" sz="1800" dirty="0"/>
          </a:p>
        </p:txBody>
      </p:sp>
      <p:sp>
        <p:nvSpPr>
          <p:cNvPr id="10" name="m1_text"/>
          <p:cNvSpPr txBox="1"/>
          <p:nvPr/>
        </p:nvSpPr>
        <p:spPr>
          <a:xfrm>
            <a:off x="4566818" y="2057400"/>
            <a:ext cx="3058058" cy="30175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Model free: estimates Q(s, a) as the average return after first visits to (s, a) in complete episodes [3, 16].</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Improves a policy that is greedy with respect to Q while still exploring with probability ε.</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Unbiased but of high variance, and learns only once an episode has ended.</a:t>
            </a:r>
            <a:endParaRPr lang="en-US" sz="1500" dirty="0"/>
          </a:p>
        </p:txBody>
      </p:sp>
      <p:sp>
        <p:nvSpPr>
          <p:cNvPr id="11" name="m2_bg"/>
          <p:cNvSpPr/>
          <p:nvPr/>
        </p:nvSpPr>
        <p:spPr>
          <a:xfrm>
            <a:off x="8127797" y="1417320"/>
            <a:ext cx="3515258" cy="3794760"/>
          </a:xfrm>
          <a:prstGeom prst="roundRect">
            <a:avLst>
              <a:gd name="adj" fmla="val 2081"/>
            </a:avLst>
          </a:prstGeom>
          <a:solidFill>
            <a:srgbClr val="EEF2F8"/>
          </a:solidFill>
          <a:ln w="12700">
            <a:solidFill>
              <a:srgbClr val="EEF2F8"/>
            </a:solidFill>
            <a:prstDash val="solid"/>
          </a:ln>
        </p:spPr>
      </p:sp>
      <p:sp>
        <p:nvSpPr>
          <p:cNvPr id="12" name="m2_head"/>
          <p:cNvSpPr txBox="1"/>
          <p:nvPr/>
        </p:nvSpPr>
        <p:spPr>
          <a:xfrm>
            <a:off x="8356397"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Q-learning</a:t>
            </a:r>
            <a:endParaRPr lang="en-US" sz="1800" dirty="0"/>
          </a:p>
        </p:txBody>
      </p:sp>
      <p:sp>
        <p:nvSpPr>
          <p:cNvPr id="13" name="m2_text"/>
          <p:cNvSpPr txBox="1"/>
          <p:nvPr/>
        </p:nvSpPr>
        <p:spPr>
          <a:xfrm>
            <a:off x="8356397" y="2057400"/>
            <a:ext cx="3058058" cy="30175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Model free temporal difference method that bootstraps from its own estimates [8].</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Converges to Q* if every pair is visited infinitely often and the step sizes decay suitably.</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Spreads reward information faster than MC, at the cost of bias from bootstrapping on noisy estimates.</a:t>
            </a:r>
            <a:endParaRPr lang="en-US" sz="1500" dirty="0"/>
          </a:p>
        </p:txBody>
      </p:sp>
      <p:sp>
        <p:nvSpPr>
          <p:cNvPr id="14" name="q_update"/>
          <p:cNvSpPr txBox="1"/>
          <p:nvPr/>
        </p:nvSpPr>
        <p:spPr>
          <a:xfrm>
            <a:off x="548640" y="5394960"/>
            <a:ext cx="11094415" cy="411480"/>
          </a:xfrm>
          <a:prstGeom prst="rect">
            <a:avLst/>
          </a:prstGeom>
          <a:noFill/>
          <a:ln/>
        </p:spPr>
        <p:txBody>
          <a:bodyPr wrap="square" lIns="0" tIns="0" rIns="0" bIns="0" rtlCol="0" anchor="ctr"/>
          <a:lstStyle/>
          <a:p>
            <a:pPr algn="ctr" indent="0" marL="0">
              <a:buNone/>
            </a:pPr>
            <a:r>
              <a:rPr lang="en-US" sz="1700" i="1" dirty="0">
                <a:solidFill>
                  <a:srgbClr val="1B2A4A"/>
                </a:solidFill>
                <a:latin typeface="Cambria" pitchFamily="34" charset="0"/>
                <a:ea typeface="Cambria" pitchFamily="34" charset="-122"/>
                <a:cs typeface="Cambria" pitchFamily="34" charset="-120"/>
              </a:rPr>
              <a:t>Q-learning update:   Q(s, a) ← Q(s, a) + α [ r + γ max</a:t>
            </a:r>
            <a:r>
              <a:rPr lang="en-US" sz="1700" i="1" baseline="-40000" dirty="0">
                <a:solidFill>
                  <a:srgbClr val="1B2A4A"/>
                </a:solidFill>
                <a:latin typeface="Cambria" pitchFamily="34" charset="0"/>
                <a:ea typeface="Cambria" pitchFamily="34" charset="-122"/>
                <a:cs typeface="Cambria" pitchFamily="34" charset="-120"/>
              </a:rPr>
              <a:t>a′</a:t>
            </a:r>
            <a:r>
              <a:rPr lang="en-US" sz="1700" i="1" dirty="0">
                <a:solidFill>
                  <a:srgbClr val="1B2A4A"/>
                </a:solidFill>
                <a:latin typeface="Cambria" pitchFamily="34" charset="0"/>
                <a:ea typeface="Cambria" pitchFamily="34" charset="-122"/>
                <a:cs typeface="Cambria" pitchFamily="34" charset="-120"/>
              </a:rPr>
              <a:t> Q(s′, a′) − Q(s, a) ]</a:t>
            </a:r>
            <a:endParaRPr lang="en-US" sz="1700" dirty="0"/>
          </a:p>
        </p:txBody>
      </p:sp>
      <p:sp>
        <p:nvSpPr>
          <p:cNvPr id="15" name="bg_note"/>
          <p:cNvSpPr txBox="1"/>
          <p:nvPr/>
        </p:nvSpPr>
        <p:spPr>
          <a:xfrm>
            <a:off x="548640" y="5852160"/>
            <a:ext cx="11094415" cy="411480"/>
          </a:xfrm>
          <a:prstGeom prst="rect">
            <a:avLst/>
          </a:prstGeom>
          <a:noFill/>
          <a:ln/>
        </p:spPr>
        <p:txBody>
          <a:bodyPr wrap="square" lIns="0" tIns="0" rIns="0" bIns="0" rtlCol="0" anchor="ctr"/>
          <a:lstStyle/>
          <a:p>
            <a:pPr indent="0" marL="0">
              <a:buNone/>
            </a:pPr>
            <a:r>
              <a:rPr lang="en-US" sz="1500" i="1" dirty="0">
                <a:solidFill>
                  <a:srgbClr val="5B6770"/>
                </a:solidFill>
                <a:latin typeface="Calibri" pitchFamily="34" charset="0"/>
                <a:ea typeface="Calibri" pitchFamily="34" charset="-122"/>
                <a:cs typeface="Calibri" pitchFamily="34" charset="-120"/>
              </a:rPr>
              <a:t>In this work all three methods learn from the same 150 logged clinic days; MC and Q-learning sample experience from the estimated MDP, never from the scoring sessions.</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The Medical Appointment No Shows Dataset</a:t>
            </a:r>
            <a:endParaRPr lang="en-US" sz="2800" dirty="0"/>
          </a:p>
        </p:txBody>
      </p:sp>
      <p:sp>
        <p:nvSpPr>
          <p:cNvPr id="5" name="dataset_bg"/>
          <p:cNvSpPr/>
          <p:nvPr/>
        </p:nvSpPr>
        <p:spPr>
          <a:xfrm>
            <a:off x="548640" y="1417320"/>
            <a:ext cx="5394960" cy="4800600"/>
          </a:xfrm>
          <a:prstGeom prst="roundRect">
            <a:avLst>
              <a:gd name="adj" fmla="val 1524"/>
            </a:avLst>
          </a:prstGeom>
          <a:solidFill>
            <a:srgbClr val="EEF2F8"/>
          </a:solidFill>
          <a:ln w="12700">
            <a:solidFill>
              <a:srgbClr val="EEF2F8"/>
            </a:solidFill>
            <a:prstDash val="solid"/>
          </a:ln>
        </p:spPr>
      </p:sp>
      <p:sp>
        <p:nvSpPr>
          <p:cNvPr id="6" name="dataset_head"/>
          <p:cNvSpPr txBox="1"/>
          <p:nvPr/>
        </p:nvSpPr>
        <p:spPr>
          <a:xfrm>
            <a:off x="777240" y="1600200"/>
            <a:ext cx="493776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Dataset characteristics</a:t>
            </a:r>
            <a:endParaRPr lang="en-US" sz="1800" dirty="0"/>
          </a:p>
        </p:txBody>
      </p:sp>
      <p:sp>
        <p:nvSpPr>
          <p:cNvPr id="7" name="dataset_text"/>
          <p:cNvSpPr txBox="1"/>
          <p:nvPr/>
        </p:nvSpPr>
        <p:spPr>
          <a:xfrm>
            <a:off x="777240" y="2057400"/>
            <a:ext cx="4937760" cy="40233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110,487 appointments of 62,277 patients across 81 neighbourhoods in Brazil, recorded on 26 weekdays between 29 April and 8 June 2016 [17].</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overall no-show rate is 20.2%, and it varies little by weekday (19.4% to 21.2%).</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Booking lead time is the strongest predictor: 4.7% of same day bookings were missed, compared with 33.0% of bookings made 31 or more days in advance.</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Before the analysis, one record with a negative age and the 39 appointments held on Saturdays were removed.</a:t>
            </a:r>
            <a:endParaRPr lang="en-US" sz="1600" dirty="0"/>
          </a:p>
        </p:txBody>
      </p:sp>
      <p:sp>
        <p:nvSpPr>
          <p:cNvPr id="8" name="classifier_bg"/>
          <p:cNvSpPr/>
          <p:nvPr/>
        </p:nvSpPr>
        <p:spPr>
          <a:xfrm>
            <a:off x="6172200" y="1417320"/>
            <a:ext cx="5470855" cy="4800600"/>
          </a:xfrm>
          <a:prstGeom prst="roundRect">
            <a:avLst>
              <a:gd name="adj" fmla="val 1524"/>
            </a:avLst>
          </a:prstGeom>
          <a:solidFill>
            <a:srgbClr val="EEF2F8"/>
          </a:solidFill>
          <a:ln w="12700">
            <a:solidFill>
              <a:srgbClr val="EEF2F8"/>
            </a:solidFill>
            <a:prstDash val="solid"/>
          </a:ln>
        </p:spPr>
      </p:sp>
      <p:sp>
        <p:nvSpPr>
          <p:cNvPr id="9" name="classifier_head"/>
          <p:cNvSpPr txBox="1"/>
          <p:nvPr/>
        </p:nvSpPr>
        <p:spPr>
          <a:xfrm>
            <a:off x="6400800" y="1600200"/>
            <a:ext cx="501365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No-show classifier</a:t>
            </a:r>
            <a:endParaRPr lang="en-US" sz="1800" dirty="0"/>
          </a:p>
        </p:txBody>
      </p:sp>
      <p:sp>
        <p:nvSpPr>
          <p:cNvPr id="10" name="classifier_text"/>
          <p:cNvSpPr txBox="1"/>
          <p:nvPr/>
        </p:nvSpPr>
        <p:spPr>
          <a:xfrm>
            <a:off x="6400800" y="2057400"/>
            <a:ext cx="5013655" cy="40233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Gradient boosting [18], calibrated by isotonic regression [19] and implemented in scikit-learn [20].</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Uses only information known at booking: lead time, age, sex, SMS reminder, health and welfare flags, weekday, history and neighbourhood.</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Trained on appointments before 9 May, calibrated on 9 to 15 May and applied from 16 May onwards, so no later information is used.</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Test AUC of 0.728; the mean predicted no-show rate is 22.0% against 19.8% observed.</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Formulating the Problem as a Markov Decision Process</a:t>
            </a:r>
            <a:endParaRPr lang="en-US" sz="2800" dirty="0"/>
          </a:p>
        </p:txBody>
      </p:sp>
      <p:sp>
        <p:nvSpPr>
          <p:cNvPr id="5" name="mdp0_bg"/>
          <p:cNvSpPr/>
          <p:nvPr/>
        </p:nvSpPr>
        <p:spPr>
          <a:xfrm>
            <a:off x="548640" y="1417320"/>
            <a:ext cx="3515258" cy="1874520"/>
          </a:xfrm>
          <a:prstGeom prst="roundRect">
            <a:avLst>
              <a:gd name="adj" fmla="val 3902"/>
            </a:avLst>
          </a:prstGeom>
          <a:solidFill>
            <a:srgbClr val="EEF2F8"/>
          </a:solidFill>
          <a:ln w="12700">
            <a:solidFill>
              <a:srgbClr val="EEF2F8"/>
            </a:solidFill>
            <a:prstDash val="solid"/>
          </a:ln>
        </p:spPr>
      </p:sp>
      <p:sp>
        <p:nvSpPr>
          <p:cNvPr id="6" name="mdp0_head"/>
          <p:cNvSpPr txBox="1"/>
          <p:nvPr/>
        </p:nvSpPr>
        <p:spPr>
          <a:xfrm>
            <a:off x="777240"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Session</a:t>
            </a:r>
            <a:endParaRPr lang="en-US" sz="1800" dirty="0"/>
          </a:p>
        </p:txBody>
      </p:sp>
      <p:sp>
        <p:nvSpPr>
          <p:cNvPr id="7" name="mdp0_text"/>
          <p:cNvSpPr txBox="1"/>
          <p:nvPr/>
        </p:nvSpPr>
        <p:spPr>
          <a:xfrm>
            <a:off x="777240" y="205740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All appointments of one neighbourhood on one day (at least five), with 10 regular slots.</a:t>
            </a:r>
            <a:endParaRPr lang="en-US" sz="1600" dirty="0"/>
          </a:p>
        </p:txBody>
      </p:sp>
      <p:sp>
        <p:nvSpPr>
          <p:cNvPr id="8" name="mdp1_bg"/>
          <p:cNvSpPr/>
          <p:nvPr/>
        </p:nvSpPr>
        <p:spPr>
          <a:xfrm>
            <a:off x="4338218" y="1417320"/>
            <a:ext cx="3515258" cy="1874520"/>
          </a:xfrm>
          <a:prstGeom prst="roundRect">
            <a:avLst>
              <a:gd name="adj" fmla="val 3902"/>
            </a:avLst>
          </a:prstGeom>
          <a:solidFill>
            <a:srgbClr val="EEF2F8"/>
          </a:solidFill>
          <a:ln w="12700">
            <a:solidFill>
              <a:srgbClr val="EEF2F8"/>
            </a:solidFill>
            <a:prstDash val="solid"/>
          </a:ln>
        </p:spPr>
      </p:sp>
      <p:sp>
        <p:nvSpPr>
          <p:cNvPr id="9" name="mdp1_head"/>
          <p:cNvSpPr txBox="1"/>
          <p:nvPr/>
        </p:nvSpPr>
        <p:spPr>
          <a:xfrm>
            <a:off x="4566818"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Episode</a:t>
            </a:r>
            <a:endParaRPr lang="en-US" sz="1800" dirty="0"/>
          </a:p>
        </p:txBody>
      </p:sp>
      <p:sp>
        <p:nvSpPr>
          <p:cNvPr id="10" name="mdp1_text"/>
          <p:cNvSpPr txBox="1"/>
          <p:nvPr/>
        </p:nvSpPr>
        <p:spPr>
          <a:xfrm>
            <a:off x="4566818" y="205740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40 sessions drawn from the real sessions while preserving the weekday order.</a:t>
            </a:r>
            <a:endParaRPr lang="en-US" sz="1600" dirty="0"/>
          </a:p>
        </p:txBody>
      </p:sp>
      <p:sp>
        <p:nvSpPr>
          <p:cNvPr id="11" name="mdp2_bg"/>
          <p:cNvSpPr/>
          <p:nvPr/>
        </p:nvSpPr>
        <p:spPr>
          <a:xfrm>
            <a:off x="8127797" y="1417320"/>
            <a:ext cx="3515258" cy="1874520"/>
          </a:xfrm>
          <a:prstGeom prst="roundRect">
            <a:avLst>
              <a:gd name="adj" fmla="val 3902"/>
            </a:avLst>
          </a:prstGeom>
          <a:solidFill>
            <a:srgbClr val="EEF2F8"/>
          </a:solidFill>
          <a:ln w="12700">
            <a:solidFill>
              <a:srgbClr val="EEF2F8"/>
            </a:solidFill>
            <a:prstDash val="solid"/>
          </a:ln>
        </p:spPr>
      </p:sp>
      <p:sp>
        <p:nvSpPr>
          <p:cNvPr id="12" name="mdp2_head"/>
          <p:cNvSpPr txBox="1"/>
          <p:nvPr/>
        </p:nvSpPr>
        <p:spPr>
          <a:xfrm>
            <a:off x="8356397"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State</a:t>
            </a:r>
            <a:endParaRPr lang="en-US" sz="1800" dirty="0"/>
          </a:p>
        </p:txBody>
      </p:sp>
      <p:sp>
        <p:nvSpPr>
          <p:cNvPr id="13" name="mdp2_text"/>
          <p:cNvSpPr txBox="1"/>
          <p:nvPr/>
        </p:nvSpPr>
        <p:spPr>
          <a:xfrm>
            <a:off x="8356397" y="205740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Slots filled (5 to 7, 8 to 9, 10) × predicted risk quartile (4) × waiting list band (5) = 60 states.</a:t>
            </a:r>
            <a:endParaRPr lang="en-US" sz="1600" dirty="0"/>
          </a:p>
        </p:txBody>
      </p:sp>
      <p:sp>
        <p:nvSpPr>
          <p:cNvPr id="14" name="mdp3_bg"/>
          <p:cNvSpPr/>
          <p:nvPr/>
        </p:nvSpPr>
        <p:spPr>
          <a:xfrm>
            <a:off x="548640" y="3520440"/>
            <a:ext cx="3515258" cy="1874520"/>
          </a:xfrm>
          <a:prstGeom prst="roundRect">
            <a:avLst>
              <a:gd name="adj" fmla="val 3902"/>
            </a:avLst>
          </a:prstGeom>
          <a:solidFill>
            <a:srgbClr val="EEF2F8"/>
          </a:solidFill>
          <a:ln w="12700">
            <a:solidFill>
              <a:srgbClr val="EEF2F8"/>
            </a:solidFill>
            <a:prstDash val="solid"/>
          </a:ln>
        </p:spPr>
      </p:sp>
      <p:sp>
        <p:nvSpPr>
          <p:cNvPr id="15" name="mdp3_head"/>
          <p:cNvSpPr txBox="1"/>
          <p:nvPr/>
        </p:nvSpPr>
        <p:spPr>
          <a:xfrm>
            <a:off x="777240" y="370332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Action</a:t>
            </a:r>
            <a:endParaRPr lang="en-US" sz="1800" dirty="0"/>
          </a:p>
        </p:txBody>
      </p:sp>
      <p:sp>
        <p:nvSpPr>
          <p:cNvPr id="16" name="mdp3_text"/>
          <p:cNvSpPr txBox="1"/>
          <p:nvPr/>
        </p:nvSpPr>
        <p:spPr>
          <a:xfrm>
            <a:off x="777240" y="416052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The number of additional patients booked before the session: 0, 1, 2, 3 or 4.</a:t>
            </a:r>
            <a:endParaRPr lang="en-US" sz="1600" dirty="0"/>
          </a:p>
        </p:txBody>
      </p:sp>
      <p:sp>
        <p:nvSpPr>
          <p:cNvPr id="17" name="mdp4_bg"/>
          <p:cNvSpPr/>
          <p:nvPr/>
        </p:nvSpPr>
        <p:spPr>
          <a:xfrm>
            <a:off x="4338218" y="3520440"/>
            <a:ext cx="3515258" cy="1874520"/>
          </a:xfrm>
          <a:prstGeom prst="roundRect">
            <a:avLst>
              <a:gd name="adj" fmla="val 3902"/>
            </a:avLst>
          </a:prstGeom>
          <a:solidFill>
            <a:srgbClr val="EEF2F8"/>
          </a:solidFill>
          <a:ln w="12700">
            <a:solidFill>
              <a:srgbClr val="EEF2F8"/>
            </a:solidFill>
            <a:prstDash val="solid"/>
          </a:ln>
        </p:spPr>
      </p:sp>
      <p:sp>
        <p:nvSpPr>
          <p:cNvPr id="18" name="mdp4_head"/>
          <p:cNvSpPr txBox="1"/>
          <p:nvPr/>
        </p:nvSpPr>
        <p:spPr>
          <a:xfrm>
            <a:off x="4566818" y="370332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Reward</a:t>
            </a:r>
            <a:endParaRPr lang="en-US" sz="1800" dirty="0"/>
          </a:p>
        </p:txBody>
      </p:sp>
      <p:sp>
        <p:nvSpPr>
          <p:cNvPr id="19" name="mdp4_text"/>
          <p:cNvSpPr txBox="1"/>
          <p:nvPr/>
        </p:nvSpPr>
        <p:spPr>
          <a:xfrm>
            <a:off x="4566818" y="416052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shows − 3 × overtime − 0.5 × idle − 0.4 × waiting list + 0.3 × patients admitted from the waiting list.</a:t>
            </a:r>
            <a:endParaRPr lang="en-US" sz="1600" dirty="0"/>
          </a:p>
        </p:txBody>
      </p:sp>
      <p:sp>
        <p:nvSpPr>
          <p:cNvPr id="20" name="mdp5_bg"/>
          <p:cNvSpPr/>
          <p:nvPr/>
        </p:nvSpPr>
        <p:spPr>
          <a:xfrm>
            <a:off x="8127797" y="3520440"/>
            <a:ext cx="3515258" cy="1874520"/>
          </a:xfrm>
          <a:prstGeom prst="roundRect">
            <a:avLst>
              <a:gd name="adj" fmla="val 3902"/>
            </a:avLst>
          </a:prstGeom>
          <a:solidFill>
            <a:srgbClr val="EEF2F8"/>
          </a:solidFill>
          <a:ln w="12700">
            <a:solidFill>
              <a:srgbClr val="EEF2F8"/>
            </a:solidFill>
            <a:prstDash val="solid"/>
          </a:ln>
        </p:spPr>
      </p:sp>
      <p:sp>
        <p:nvSpPr>
          <p:cNvPr id="21" name="mdp5_head"/>
          <p:cNvSpPr txBox="1"/>
          <p:nvPr/>
        </p:nvSpPr>
        <p:spPr>
          <a:xfrm>
            <a:off x="8356397" y="370332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Data split</a:t>
            </a:r>
            <a:endParaRPr lang="en-US" sz="1800" dirty="0"/>
          </a:p>
        </p:txBody>
      </p:sp>
      <p:sp>
        <p:nvSpPr>
          <p:cNvPr id="22" name="mdp5_text"/>
          <p:cNvSpPr txBox="1"/>
          <p:nvPr/>
        </p:nvSpPr>
        <p:spPr>
          <a:xfrm>
            <a:off x="8356397" y="416052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Learning: 16 to 25 May (506 sessions). Scoring: 30 May to 8 June (592 sessions), unseen in learning.</a:t>
            </a:r>
            <a:endParaRPr lang="en-US" sz="1600" dirty="0"/>
          </a:p>
        </p:txBody>
      </p:sp>
      <p:sp>
        <p:nvSpPr>
          <p:cNvPr id="23" name="mdp_note"/>
          <p:cNvSpPr txBox="1"/>
          <p:nvPr/>
        </p:nvSpPr>
        <p:spPr>
          <a:xfrm>
            <a:off x="548640" y="5577840"/>
            <a:ext cx="11094415" cy="411480"/>
          </a:xfrm>
          <a:prstGeom prst="rect">
            <a:avLst/>
          </a:prstGeom>
          <a:noFill/>
          <a:ln/>
        </p:spPr>
        <p:txBody>
          <a:bodyPr wrap="square" lIns="0" tIns="0" rIns="0" bIns="0" rtlCol="0" anchor="ctr"/>
          <a:lstStyle/>
          <a:p>
            <a:pPr indent="0" marL="0">
              <a:buNone/>
            </a:pPr>
            <a:r>
              <a:rPr lang="en-US" sz="1600" i="1" dirty="0">
                <a:solidFill>
                  <a:srgbClr val="5B6770"/>
                </a:solidFill>
                <a:latin typeface="Calibri" pitchFamily="34" charset="0"/>
                <a:ea typeface="Calibri" pitchFamily="34" charset="-122"/>
                <a:cs typeface="Calibri" pitchFamily="34" charset="-120"/>
              </a:rPr>
              <a:t>Attendance of every booked patient is taken directly from the records; policies are learned from 150 logged clinic days, as in Paper 7.</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Methods Compared</a:t>
            </a:r>
            <a:endParaRPr lang="en-US" sz="2800" dirty="0"/>
          </a:p>
        </p:txBody>
      </p:sp>
      <p:sp>
        <p:nvSpPr>
          <p:cNvPr id="5" name="paper7methods_bg"/>
          <p:cNvSpPr/>
          <p:nvPr/>
        </p:nvSpPr>
        <p:spPr>
          <a:xfrm>
            <a:off x="548640" y="1417320"/>
            <a:ext cx="5394960" cy="3246120"/>
          </a:xfrm>
          <a:prstGeom prst="roundRect">
            <a:avLst>
              <a:gd name="adj" fmla="val 2254"/>
            </a:avLst>
          </a:prstGeom>
          <a:solidFill>
            <a:srgbClr val="EEF2F8"/>
          </a:solidFill>
          <a:ln w="12700">
            <a:solidFill>
              <a:srgbClr val="EEF2F8"/>
            </a:solidFill>
            <a:prstDash val="solid"/>
          </a:ln>
        </p:spPr>
      </p:sp>
      <p:sp>
        <p:nvSpPr>
          <p:cNvPr id="6" name="paper7methods_head"/>
          <p:cNvSpPr txBox="1"/>
          <p:nvPr/>
        </p:nvSpPr>
        <p:spPr>
          <a:xfrm>
            <a:off x="777240" y="1600200"/>
            <a:ext cx="493776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Methods from Paper 7</a:t>
            </a:r>
            <a:endParaRPr lang="en-US" sz="1800" dirty="0"/>
          </a:p>
        </p:txBody>
      </p:sp>
      <p:sp>
        <p:nvSpPr>
          <p:cNvPr id="7" name="paper7methods_text"/>
          <p:cNvSpPr txBox="1"/>
          <p:nvPr/>
        </p:nvSpPr>
        <p:spPr>
          <a:xfrm>
            <a:off x="777240" y="2057400"/>
            <a:ext cx="4937760" cy="24688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DP (value iteration) on the MDP estimated from the logged data.</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Monte Carlo control and Q-learning on the same estimated MDP.</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The guideline rule (one or two additional bookings) and the clinician behaviour policy.</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Oracle DP: DP fitted to 1,500 logged days, ten times the standard amount, as a reference.</a:t>
            </a:r>
            <a:endParaRPr lang="en-US" sz="1600" dirty="0"/>
          </a:p>
        </p:txBody>
      </p:sp>
      <p:sp>
        <p:nvSpPr>
          <p:cNvPr id="8" name="baselines_bg"/>
          <p:cNvSpPr/>
          <p:nvPr/>
        </p:nvSpPr>
        <p:spPr>
          <a:xfrm>
            <a:off x="6172200" y="1417320"/>
            <a:ext cx="5470855" cy="3246120"/>
          </a:xfrm>
          <a:prstGeom prst="roundRect">
            <a:avLst>
              <a:gd name="adj" fmla="val 2254"/>
            </a:avLst>
          </a:prstGeom>
          <a:solidFill>
            <a:srgbClr val="EEF2F8"/>
          </a:solidFill>
          <a:ln w="12700">
            <a:solidFill>
              <a:srgbClr val="EEF2F8"/>
            </a:solidFill>
            <a:prstDash val="solid"/>
          </a:ln>
        </p:spPr>
      </p:sp>
      <p:sp>
        <p:nvSpPr>
          <p:cNvPr id="9" name="baselines_head"/>
          <p:cNvSpPr txBox="1"/>
          <p:nvPr/>
        </p:nvSpPr>
        <p:spPr>
          <a:xfrm>
            <a:off x="6400800" y="1600200"/>
            <a:ext cx="501365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Baselines from published work</a:t>
            </a:r>
            <a:endParaRPr lang="en-US" sz="1800" dirty="0"/>
          </a:p>
        </p:txBody>
      </p:sp>
      <p:sp>
        <p:nvSpPr>
          <p:cNvPr id="10" name="baselines_text"/>
          <p:cNvSpPr txBox="1"/>
          <p:nvPr/>
        </p:nvSpPr>
        <p:spPr>
          <a:xfrm>
            <a:off x="6400800" y="2057400"/>
            <a:ext cx="5013655" cy="24688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Single session optimiser: chooses the number of additional bookings that maximises the expected reward of the current session [6].</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Threshold double booking (θ = 0.25): one additional booking for each patient whose predicted risk is at least θ [7].</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Fixed booking: always books k = 2 additional patients.</a:t>
            </a:r>
            <a:endParaRPr lang="en-US" sz="1600" dirty="0"/>
          </a:p>
        </p:txBody>
      </p:sp>
      <p:sp>
        <p:nvSpPr>
          <p:cNvPr id="11" name="protocol_bg"/>
          <p:cNvSpPr/>
          <p:nvPr/>
        </p:nvSpPr>
        <p:spPr>
          <a:xfrm>
            <a:off x="548640" y="4892040"/>
            <a:ext cx="11094415" cy="1325880"/>
          </a:xfrm>
          <a:prstGeom prst="roundRect">
            <a:avLst>
              <a:gd name="adj" fmla="val 5517"/>
            </a:avLst>
          </a:prstGeom>
          <a:solidFill>
            <a:srgbClr val="F8EEDA"/>
          </a:solidFill>
          <a:ln w="12700">
            <a:solidFill>
              <a:srgbClr val="F8EEDA"/>
            </a:solidFill>
            <a:prstDash val="solid"/>
          </a:ln>
        </p:spPr>
      </p:sp>
      <p:sp>
        <p:nvSpPr>
          <p:cNvPr id="12" name="protocol_head"/>
          <p:cNvSpPr txBox="1"/>
          <p:nvPr/>
        </p:nvSpPr>
        <p:spPr>
          <a:xfrm>
            <a:off x="777240" y="507492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Evaluation protocol</a:t>
            </a:r>
            <a:endParaRPr lang="en-US" sz="1800" dirty="0"/>
          </a:p>
        </p:txBody>
      </p:sp>
      <p:sp>
        <p:nvSpPr>
          <p:cNvPr id="13" name="protocol_text"/>
          <p:cNvSpPr txBox="1"/>
          <p:nvPr/>
        </p:nvSpPr>
        <p:spPr>
          <a:xfrm>
            <a:off x="777240" y="5532120"/>
            <a:ext cx="10637215" cy="5486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Each method is evaluated over 20 replicates (independent logged datasets) and 1,000 episodes of the scoring sessions with common random numbers; the return is the discounted reward over 40 sessions.</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Proposed Method: A Structured Model of the Clinic</a:t>
            </a:r>
            <a:endParaRPr lang="en-US" sz="2800" dirty="0"/>
          </a:p>
        </p:txBody>
      </p:sp>
      <p:sp>
        <p:nvSpPr>
          <p:cNvPr id="5" name="motivation_bg"/>
          <p:cNvSpPr/>
          <p:nvPr/>
        </p:nvSpPr>
        <p:spPr>
          <a:xfrm>
            <a:off x="548640" y="1417320"/>
            <a:ext cx="5394960" cy="3291840"/>
          </a:xfrm>
          <a:prstGeom prst="roundRect">
            <a:avLst>
              <a:gd name="adj" fmla="val 2222"/>
            </a:avLst>
          </a:prstGeom>
          <a:solidFill>
            <a:srgbClr val="EEF2F8"/>
          </a:solidFill>
          <a:ln w="12700">
            <a:solidFill>
              <a:srgbClr val="EEF2F8"/>
            </a:solidFill>
            <a:prstDash val="solid"/>
          </a:ln>
        </p:spPr>
      </p:sp>
      <p:sp>
        <p:nvSpPr>
          <p:cNvPr id="6" name="motivation_head"/>
          <p:cNvSpPr txBox="1"/>
          <p:nvPr/>
        </p:nvSpPr>
        <p:spPr>
          <a:xfrm>
            <a:off x="777240" y="1600200"/>
            <a:ext cx="493776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Motivation</a:t>
            </a:r>
            <a:endParaRPr lang="en-US" sz="1800" dirty="0"/>
          </a:p>
        </p:txBody>
      </p:sp>
      <p:sp>
        <p:nvSpPr>
          <p:cNvPr id="7" name="motivation_text"/>
          <p:cNvSpPr txBox="1"/>
          <p:nvPr/>
        </p:nvSpPr>
        <p:spPr>
          <a:xfrm>
            <a:off x="777240" y="2057400"/>
            <a:ext cx="4937760"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Paper 7's methods estimate every transition probability P(s' | s, a) from counts: 18,300 quantities from 150 days.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Booking three or four additional patients is rare in the logs, so the estimates for these actions are unreliable.</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Most of the clinic's dynamics are known in advance: the slots, the reward and how additional bookings reduce the waiting list.</a:t>
            </a:r>
            <a:endParaRPr lang="en-US" sz="1600" dirty="0"/>
          </a:p>
        </p:txBody>
      </p:sp>
      <p:sp>
        <p:nvSpPr>
          <p:cNvPr id="8" name="procedure_bg"/>
          <p:cNvSpPr/>
          <p:nvPr/>
        </p:nvSpPr>
        <p:spPr>
          <a:xfrm>
            <a:off x="6172200" y="1417320"/>
            <a:ext cx="5470855" cy="3291840"/>
          </a:xfrm>
          <a:prstGeom prst="roundRect">
            <a:avLst>
              <a:gd name="adj" fmla="val 2222"/>
            </a:avLst>
          </a:prstGeom>
          <a:solidFill>
            <a:srgbClr val="EEF2F8"/>
          </a:solidFill>
          <a:ln w="12700">
            <a:solidFill>
              <a:srgbClr val="EEF2F8"/>
            </a:solidFill>
            <a:prstDash val="solid"/>
          </a:ln>
        </p:spPr>
      </p:sp>
      <p:sp>
        <p:nvSpPr>
          <p:cNvPr id="9" name="procedure_head"/>
          <p:cNvSpPr txBox="1"/>
          <p:nvPr/>
        </p:nvSpPr>
        <p:spPr>
          <a:xfrm>
            <a:off x="6400800" y="1600200"/>
            <a:ext cx="501365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Procedure</a:t>
            </a:r>
            <a:endParaRPr lang="en-US" sz="1800" dirty="0"/>
          </a:p>
        </p:txBody>
      </p:sp>
      <p:sp>
        <p:nvSpPr>
          <p:cNvPr id="10" name="procedure_text"/>
          <p:cNvSpPr txBox="1"/>
          <p:nvPr/>
        </p:nvSpPr>
        <p:spPr>
          <a:xfrm>
            <a:off x="6400800" y="2057400"/>
            <a:ext cx="5013655" cy="251460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600" dirty="0">
                <a:solidFill>
                  <a:srgbClr val="1F2933"/>
                </a:solidFill>
                <a:latin typeface="Calibri" pitchFamily="34" charset="0"/>
                <a:ea typeface="Calibri" pitchFamily="34" charset="-122"/>
                <a:cs typeface="Calibri" pitchFamily="34" charset="-120"/>
              </a:rPr>
              <a:t>Estimate only patient behaviour from the logs: cell frequencies (12), the waiting list arrival rate (1) and waiting list lengths within each band (13).</a:t>
            </a:r>
            <a:endParaRPr lang="en-US" sz="1600" dirty="0"/>
          </a:p>
          <a:p>
            <a:pPr marL="279400" indent="-279400">
              <a:spcAft>
                <a:spcPts val="800"/>
              </a:spcAft>
              <a:buSzPct val="100000"/>
              <a:buFont typeface="+mj-lt"/>
              <a:buAutoNum type="arabicPeriod" startAt="1"/>
            </a:pPr>
            <a:r>
              <a:rPr lang="en-US" sz="1600" dirty="0">
                <a:solidFill>
                  <a:srgbClr val="1F2933"/>
                </a:solidFill>
                <a:latin typeface="Calibri" pitchFamily="34" charset="0"/>
                <a:ea typeface="Calibri" pitchFamily="34" charset="-122"/>
                <a:cs typeface="Calibri" pitchFamily="34" charset="-120"/>
              </a:rPr>
              <a:t>Compute the expected reward of each session exactly from the patients' predicted attendance probabilities.</a:t>
            </a:r>
            <a:endParaRPr lang="en-US" sz="1600" dirty="0"/>
          </a:p>
          <a:p>
            <a:pPr marL="279400" indent="-279400">
              <a:spcAft>
                <a:spcPts val="800"/>
              </a:spcAft>
              <a:buSzPct val="100000"/>
              <a:buFont typeface="+mj-lt"/>
              <a:buAutoNum type="arabicPeriod" startAt="1"/>
            </a:pPr>
            <a:r>
              <a:rPr lang="en-US" sz="1600" dirty="0">
                <a:solidFill>
                  <a:srgbClr val="1F2933"/>
                </a:solidFill>
                <a:latin typeface="Calibri" pitchFamily="34" charset="0"/>
                <a:ea typeface="Calibri" pitchFamily="34" charset="-122"/>
                <a:cs typeface="Calibri" pitchFamily="34" charset="-120"/>
              </a:rPr>
              <a:t>Assemble the transition model from these components, a factored MDP [13].</a:t>
            </a:r>
            <a:endParaRPr lang="en-US" sz="1600" dirty="0"/>
          </a:p>
          <a:p>
            <a:pPr marL="279400" indent="-279400">
              <a:spcAft>
                <a:spcPts val="800"/>
              </a:spcAft>
              <a:buSzPct val="100000"/>
              <a:buFont typeface="+mj-lt"/>
              <a:buAutoNum type="arabicPeriod" startAt="1"/>
            </a:pPr>
            <a:r>
              <a:rPr lang="en-US" sz="1600" dirty="0">
                <a:solidFill>
                  <a:srgbClr val="1F2933"/>
                </a:solidFill>
                <a:latin typeface="Calibri" pitchFamily="34" charset="0"/>
                <a:ea typeface="Calibri" pitchFamily="34" charset="-122"/>
                <a:cs typeface="Calibri" pitchFamily="34" charset="-120"/>
              </a:rPr>
              <a:t>Solve it by value iteration (DP); MC and Q-learning can also be trained on it.</a:t>
            </a:r>
            <a:endParaRPr lang="en-US" sz="1600" dirty="0"/>
          </a:p>
        </p:txBody>
      </p:sp>
      <p:sp>
        <p:nvSpPr>
          <p:cNvPr id="11" name="n_est_bg"/>
          <p:cNvSpPr/>
          <p:nvPr/>
        </p:nvSpPr>
        <p:spPr>
          <a:xfrm>
            <a:off x="548640" y="4937760"/>
            <a:ext cx="2743200" cy="1280160"/>
          </a:xfrm>
          <a:prstGeom prst="roundRect">
            <a:avLst>
              <a:gd name="adj" fmla="val 5714"/>
            </a:avLst>
          </a:prstGeom>
          <a:solidFill>
            <a:srgbClr val="EEF2F8"/>
          </a:solidFill>
          <a:ln w="12700">
            <a:solidFill>
              <a:srgbClr val="EEF2F8"/>
            </a:solidFill>
            <a:prstDash val="solid"/>
          </a:ln>
        </p:spPr>
      </p:sp>
      <p:sp>
        <p:nvSpPr>
          <p:cNvPr id="12" name="n_est_value"/>
          <p:cNvSpPr txBox="1"/>
          <p:nvPr/>
        </p:nvSpPr>
        <p:spPr>
          <a:xfrm>
            <a:off x="777240" y="5074920"/>
            <a:ext cx="2286000" cy="57150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26</a:t>
            </a:r>
            <a:endParaRPr lang="en-US" sz="3000" dirty="0"/>
          </a:p>
        </p:txBody>
      </p:sp>
      <p:sp>
        <p:nvSpPr>
          <p:cNvPr id="13" name="n_est_label"/>
          <p:cNvSpPr txBox="1"/>
          <p:nvPr/>
        </p:nvSpPr>
        <p:spPr>
          <a:xfrm>
            <a:off x="777240" y="5692140"/>
            <a:ext cx="2286000" cy="43434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parameters in the structured model</a:t>
            </a:r>
            <a:endParaRPr lang="en-US" sz="1400" dirty="0"/>
          </a:p>
        </p:txBody>
      </p:sp>
      <p:sp>
        <p:nvSpPr>
          <p:cNvPr id="14" name="n_emp_bg"/>
          <p:cNvSpPr/>
          <p:nvPr/>
        </p:nvSpPr>
        <p:spPr>
          <a:xfrm>
            <a:off x="3520440" y="4937760"/>
            <a:ext cx="2743200" cy="1280160"/>
          </a:xfrm>
          <a:prstGeom prst="roundRect">
            <a:avLst>
              <a:gd name="adj" fmla="val 5714"/>
            </a:avLst>
          </a:prstGeom>
          <a:solidFill>
            <a:srgbClr val="EEF2F8"/>
          </a:solidFill>
          <a:ln w="12700">
            <a:solidFill>
              <a:srgbClr val="EEF2F8"/>
            </a:solidFill>
            <a:prstDash val="solid"/>
          </a:ln>
        </p:spPr>
      </p:sp>
      <p:sp>
        <p:nvSpPr>
          <p:cNvPr id="15" name="n_emp_value"/>
          <p:cNvSpPr txBox="1"/>
          <p:nvPr/>
        </p:nvSpPr>
        <p:spPr>
          <a:xfrm>
            <a:off x="3749040" y="5074920"/>
            <a:ext cx="2286000" cy="57150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18,300</a:t>
            </a:r>
            <a:endParaRPr lang="en-US" sz="3000" dirty="0"/>
          </a:p>
        </p:txBody>
      </p:sp>
      <p:sp>
        <p:nvSpPr>
          <p:cNvPr id="16" name="n_emp_label"/>
          <p:cNvSpPr txBox="1"/>
          <p:nvPr/>
        </p:nvSpPr>
        <p:spPr>
          <a:xfrm>
            <a:off x="3749040" y="5692140"/>
            <a:ext cx="2286000" cy="43434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transition probabilities in the estimated MDP</a:t>
            </a:r>
            <a:endParaRPr lang="en-US" sz="1400" dirty="0"/>
          </a:p>
        </p:txBody>
      </p:sp>
      <p:sp>
        <p:nvSpPr>
          <p:cNvPr id="17" name="why"/>
          <p:cNvSpPr txBox="1"/>
          <p:nvPr/>
        </p:nvSpPr>
        <p:spPr>
          <a:xfrm>
            <a:off x="6537960" y="5074920"/>
            <a:ext cx="5105095" cy="10972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Every logged session informs all of the structured model's parameters, which is why it needs far less data than the estimated MDP.</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Main Results on the Real Scoring Sessions</a:t>
            </a:r>
            <a:endParaRPr lang="en-US" sz="2800" dirty="0"/>
          </a:p>
        </p:txBody>
      </p:sp>
      <p:graphicFrame>
        <p:nvGraphicFramePr>
          <p:cNvPr id="13" name="results"/>
          <p:cNvGraphicFramePr>
            <a:graphicFrameLocks noGrp="1"/>
          </p:cNvGraphicFramePr>
          <p:nvPr>
            <p:extLst>
              <p:ext uri="{D42A27DB-BD31-4B8C-83A1-F6EECF244321}">
                <p14:modId xmlns:p14="http://schemas.microsoft.com/office/powerpoint/2010/main" val="1579011935"/>
              </p:ext>
            </p:extLst>
          </p:nvPr>
        </p:nvGraphicFramePr>
        <p:xfrm>
          <a:off x="548640" y="1371600"/>
          <a:ext cx="8138160" cy="914400"/>
        </p:xfrm>
        <a:graphic>
          <a:graphicData uri="http://schemas.openxmlformats.org/drawingml/2006/table">
            <a:tbl>
              <a:tblPr/>
              <a:tblGrid>
                <a:gridCol w="3520440"/>
                <a:gridCol w="1600200"/>
                <a:gridCol w="1051560"/>
                <a:gridCol w="914400"/>
                <a:gridCol w="1051560"/>
              </a:tblGrid>
              <a:tr h="32918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Return (± 95% CI)</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Utilisation</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Overtime</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Waiting list</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Guideline rule</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150.8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88.9%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5.28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Threshold double booking (θ = 0.25)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164.5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95.5%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Fixed booking (k = 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174.6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91.4%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0.37</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2.45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Single session optimiser</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182.0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0.51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1.83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DP on estimated MDP</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170.3 ± 0.99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0.39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2.46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Monte Carlo control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162.8 ± 2.26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89.2%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2.86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Q-learning</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167.0 ± 2.11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90.1%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2.53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Oracle DP (10x data)</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173.6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91.5%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0.54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Monte Carlo, structured model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169.3 ± 1.70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92.4%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Q-learning, structured model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175.2 ± 1.05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92.8%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1.81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b="1" dirty="0">
                          <a:solidFill>
                            <a:srgbClr val="1F2933"/>
                          </a:solidFill>
                          <a:latin typeface="Calibri" pitchFamily="34" charset="0"/>
                          <a:ea typeface="Calibri" pitchFamily="34" charset="-122"/>
                          <a:cs typeface="Calibri" pitchFamily="34" charset="-120"/>
                        </a:rPr>
                        <a:t>Structured model DP (ours)</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300" b="1" dirty="0">
                          <a:solidFill>
                            <a:srgbClr val="1F2933"/>
                          </a:solidFill>
                          <a:latin typeface="Calibri" pitchFamily="34" charset="0"/>
                          <a:ea typeface="Calibri" pitchFamily="34" charset="-122"/>
                          <a:cs typeface="Calibri" pitchFamily="34" charset="-120"/>
                        </a:rPr>
                        <a:t>182.5 ± 0.01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300" b="1" dirty="0">
                          <a:solidFill>
                            <a:srgbClr val="1F2933"/>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300" b="1" dirty="0">
                          <a:solidFill>
                            <a:srgbClr val="1F2933"/>
                          </a:solidFill>
                          <a:latin typeface="Calibri" pitchFamily="34" charset="0"/>
                          <a:ea typeface="Calibri" pitchFamily="34" charset="-122"/>
                          <a:cs typeface="Calibri" pitchFamily="34" charset="-120"/>
                        </a:rPr>
                        <a:t>0.53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300" b="1" dirty="0">
                          <a:solidFill>
                            <a:srgbClr val="1F2933"/>
                          </a:solidFill>
                          <a:latin typeface="Calibri" pitchFamily="34" charset="0"/>
                          <a:ea typeface="Calibri" pitchFamily="34" charset="-122"/>
                          <a:cs typeface="Calibri" pitchFamily="34" charset="-120"/>
                        </a:rPr>
                        <a:t>1.67</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r>
            </a:tbl>
          </a:graphicData>
        </a:graphic>
      </p:graphicFrame>
      <p:sp>
        <p:nvSpPr>
          <p:cNvPr id="6" name="caption"/>
          <p:cNvSpPr txBox="1"/>
          <p:nvPr/>
        </p:nvSpPr>
        <p:spPr>
          <a:xfrm>
            <a:off x="548640" y="5897880"/>
            <a:ext cx="8138160" cy="365760"/>
          </a:xfrm>
          <a:prstGeom prst="rect">
            <a:avLst/>
          </a:prstGeom>
          <a:noFill/>
          <a:ln/>
        </p:spPr>
        <p:txBody>
          <a:bodyPr wrap="square" lIns="0" tIns="0" rIns="0" bIns="0" rtlCol="0" anchor="ctr"/>
          <a:lstStyle/>
          <a:p>
            <a:pPr indent="0" marL="0">
              <a:buNone/>
            </a:pPr>
            <a:r>
              <a:rPr lang="en-US" sz="1200" i="1" dirty="0">
                <a:solidFill>
                  <a:srgbClr val="5B6770"/>
                </a:solidFill>
                <a:latin typeface="Calibri" pitchFamily="34" charset="0"/>
                <a:ea typeface="Calibri" pitchFamily="34" charset="-122"/>
                <a:cs typeface="Calibri" pitchFamily="34" charset="-120"/>
              </a:rPr>
              <a:t>Return: discounted reward over 40 sessions (mean ± 95% CI over 20 replicates). Overtime and waiting list are per session.</a:t>
            </a:r>
            <a:endParaRPr lang="en-US" sz="1200" dirty="0"/>
          </a:p>
        </p:txBody>
      </p:sp>
      <p:sp>
        <p:nvSpPr>
          <p:cNvPr id="7" name="best_bg"/>
          <p:cNvSpPr/>
          <p:nvPr/>
        </p:nvSpPr>
        <p:spPr>
          <a:xfrm>
            <a:off x="9006840" y="1371600"/>
            <a:ext cx="2636215" cy="1481328"/>
          </a:xfrm>
          <a:prstGeom prst="roundRect">
            <a:avLst>
              <a:gd name="adj" fmla="val 4938"/>
            </a:avLst>
          </a:prstGeom>
          <a:solidFill>
            <a:srgbClr val="EEF2F8"/>
          </a:solidFill>
          <a:ln w="12700">
            <a:solidFill>
              <a:srgbClr val="EEF2F8"/>
            </a:solidFill>
            <a:prstDash val="solid"/>
          </a:ln>
        </p:spPr>
      </p:sp>
      <p:sp>
        <p:nvSpPr>
          <p:cNvPr id="8" name="best_value"/>
          <p:cNvSpPr txBox="1"/>
          <p:nvPr/>
        </p:nvSpPr>
        <p:spPr>
          <a:xfrm>
            <a:off x="9235440" y="1508760"/>
            <a:ext cx="2179015" cy="60960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182.5</a:t>
            </a:r>
            <a:endParaRPr lang="en-US" sz="3200" dirty="0"/>
          </a:p>
        </p:txBody>
      </p:sp>
      <p:sp>
        <p:nvSpPr>
          <p:cNvPr id="9" name="best_label"/>
          <p:cNvSpPr txBox="1"/>
          <p:nvPr/>
        </p:nvSpPr>
        <p:spPr>
          <a:xfrm>
            <a:off x="9235440" y="2164080"/>
            <a:ext cx="2179015" cy="597408"/>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return of the structured model, the highest of all methods</a:t>
            </a:r>
            <a:endParaRPr lang="en-US" sz="1400" dirty="0"/>
          </a:p>
        </p:txBody>
      </p:sp>
      <p:sp>
        <p:nvSpPr>
          <p:cNvPr id="10" name="vs_dp_bg"/>
          <p:cNvSpPr/>
          <p:nvPr/>
        </p:nvSpPr>
        <p:spPr>
          <a:xfrm>
            <a:off x="9006840" y="2990088"/>
            <a:ext cx="2636215" cy="1481328"/>
          </a:xfrm>
          <a:prstGeom prst="roundRect">
            <a:avLst>
              <a:gd name="adj" fmla="val 4938"/>
            </a:avLst>
          </a:prstGeom>
          <a:solidFill>
            <a:srgbClr val="EEF2F8"/>
          </a:solidFill>
          <a:ln w="12700">
            <a:solidFill>
              <a:srgbClr val="EEF2F8"/>
            </a:solidFill>
            <a:prstDash val="solid"/>
          </a:ln>
        </p:spPr>
      </p:sp>
      <p:sp>
        <p:nvSpPr>
          <p:cNvPr id="11" name="vs_dp_value"/>
          <p:cNvSpPr txBox="1"/>
          <p:nvPr/>
        </p:nvSpPr>
        <p:spPr>
          <a:xfrm>
            <a:off x="9235440" y="3127248"/>
            <a:ext cx="2179015" cy="60960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+12.3</a:t>
            </a:r>
            <a:endParaRPr lang="en-US" sz="3200" dirty="0"/>
          </a:p>
        </p:txBody>
      </p:sp>
      <p:sp>
        <p:nvSpPr>
          <p:cNvPr id="12" name="vs_dp_label"/>
          <p:cNvSpPr txBox="1"/>
          <p:nvPr/>
        </p:nvSpPr>
        <p:spPr>
          <a:xfrm>
            <a:off x="9235440" y="3782568"/>
            <a:ext cx="2179015" cy="597408"/>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over DP, the best of Paper 7's methods (p &lt; 0.001)</a:t>
            </a:r>
            <a:endParaRPr lang="en-US" sz="1400" dirty="0"/>
          </a:p>
        </p:txBody>
      </p:sp>
      <p:sp>
        <p:nvSpPr>
          <p:cNvPr id="13" name="vs_single_bg"/>
          <p:cNvSpPr/>
          <p:nvPr/>
        </p:nvSpPr>
        <p:spPr>
          <a:xfrm>
            <a:off x="9006840" y="4608576"/>
            <a:ext cx="2636215" cy="1481328"/>
          </a:xfrm>
          <a:prstGeom prst="roundRect">
            <a:avLst>
              <a:gd name="adj" fmla="val 4938"/>
            </a:avLst>
          </a:prstGeom>
          <a:solidFill>
            <a:srgbClr val="EEF2F8"/>
          </a:solidFill>
          <a:ln w="12700">
            <a:solidFill>
              <a:srgbClr val="EEF2F8"/>
            </a:solidFill>
            <a:prstDash val="solid"/>
          </a:ln>
        </p:spPr>
      </p:sp>
      <p:sp>
        <p:nvSpPr>
          <p:cNvPr id="14" name="vs_single_value"/>
          <p:cNvSpPr txBox="1"/>
          <p:nvPr/>
        </p:nvSpPr>
        <p:spPr>
          <a:xfrm>
            <a:off x="9235440" y="4745736"/>
            <a:ext cx="2179015" cy="60960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+0.51</a:t>
            </a:r>
            <a:endParaRPr lang="en-US" sz="3200" dirty="0"/>
          </a:p>
        </p:txBody>
      </p:sp>
      <p:sp>
        <p:nvSpPr>
          <p:cNvPr id="15" name="vs_single_label"/>
          <p:cNvSpPr txBox="1"/>
          <p:nvPr/>
        </p:nvSpPr>
        <p:spPr>
          <a:xfrm>
            <a:off x="9235440" y="5401056"/>
            <a:ext cx="2179015" cy="597408"/>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over the strongest published baseline (p &lt; 0.001)</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Effect of the Amount of Logged Data</a:t>
            </a:r>
            <a:endParaRPr lang="en-US" sz="2800" dirty="0"/>
          </a:p>
        </p:txBody>
      </p:sp>
      <p:sp>
        <p:nvSpPr>
          <p:cNvPr id="5" name="fig_datasize_frame"/>
          <p:cNvSpPr/>
          <p:nvPr/>
        </p:nvSpPr>
        <p:spPr>
          <a:xfrm>
            <a:off x="548640" y="1417320"/>
            <a:ext cx="6583680" cy="4260145"/>
          </a:xfrm>
          <a:prstGeom prst="roundRect">
            <a:avLst>
              <a:gd name="adj" fmla="val 1288"/>
            </a:avLst>
          </a:prstGeom>
          <a:solidFill>
            <a:srgbClr val="FFFFFF"/>
          </a:solidFill>
          <a:ln w="9525">
            <a:solidFill>
              <a:srgbClr val="C9D2DE"/>
            </a:solidFill>
            <a:prstDash val="solid"/>
          </a:ln>
        </p:spPr>
      </p:sp>
      <p:pic>
        <p:nvPicPr>
          <p:cNvPr id="6" name="fig_datasize" descr="Return on the real scoring sessions against the number of logged clinic days, for DP on the estimated MDP and for the structured model">    </p:cNvPr>
          <p:cNvPicPr>
            <a:picLocks noChangeAspect="1"/>
          </p:cNvPicPr>
          <p:nvPr/>
        </p:nvPicPr>
        <p:blipFill>
          <a:blip r:embed="rId1"/>
          <a:stretch>
            <a:fillRect/>
          </a:stretch>
        </p:blipFill>
        <p:spPr>
          <a:xfrm>
            <a:off x="640080" y="1508760"/>
            <a:ext cx="6400800" cy="4077265"/>
          </a:xfrm>
          <a:prstGeom prst="rect">
            <a:avLst/>
          </a:prstGeom>
        </p:spPr>
      </p:pic>
      <p:sp>
        <p:nvSpPr>
          <p:cNvPr id="7" name="text"/>
          <p:cNvSpPr txBox="1"/>
          <p:nvPr/>
        </p:nvSpPr>
        <p:spPr>
          <a:xfrm>
            <a:off x="7406640" y="1417320"/>
            <a:ext cx="4236415" cy="48463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With 25 logged days, DP on the estimated MDP attains 149.3, below the guideline rule (150.8); with 1,500 days it reaches 173.5.</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structured model attains 182.5 at every data size from 25 to 1,500 days.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reason is the number of quantities estimated: 26 parameters instead of 18,300 transition probabilities.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limitation of Paper 7's methods is therefore the coverage of the logged data, not the learning algorithm.</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Robustness to Changes in the No-Show Rate</a:t>
            </a:r>
            <a:endParaRPr lang="en-US" sz="2800" dirty="0"/>
          </a:p>
        </p:txBody>
      </p:sp>
      <p:graphicFrame>
        <p:nvGraphicFramePr>
          <p:cNvPr id="15" name="shift"/>
          <p:cNvGraphicFramePr>
            <a:graphicFrameLocks noGrp="1"/>
          </p:cNvGraphicFramePr>
          <p:nvPr>
            <p:extLst>
              <p:ext uri="{D42A27DB-BD31-4B8C-83A1-F6EECF244321}">
                <p14:modId xmlns:p14="http://schemas.microsoft.com/office/powerpoint/2010/main" val="1579011935"/>
              </p:ext>
            </p:extLst>
          </p:nvPr>
        </p:nvGraphicFramePr>
        <p:xfrm>
          <a:off x="548640" y="1417320"/>
          <a:ext cx="6858000" cy="914400"/>
        </p:xfrm>
        <a:graphic>
          <a:graphicData uri="http://schemas.openxmlformats.org/drawingml/2006/table">
            <a:tbl>
              <a:tblPr/>
              <a:tblGrid>
                <a:gridCol w="2743200"/>
                <a:gridCol w="1371600"/>
                <a:gridCol w="1371600"/>
                <a:gridCol w="1371600"/>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Nominal rate (18.5%)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Higher rate (26.4%)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Lower rate (13.5%)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Guideline rule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150.8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129.3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157.4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DP on estimated MDP</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170.3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155.6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Monte Carlo control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162.8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147.7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165.6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Q-learning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167.0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153.4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168.1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Oracle DP (10x data)</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173.6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164.1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Single session optimiser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182.0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176.8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457200">
                <a:tc>
                  <a:txBody>
                    <a:bodyPr/>
                    <a:lstStyle/>
                    <a:p>
                      <a:pPr algn="l" indent="0" marL="0">
                        <a:buNone/>
                      </a:pPr>
                      <a:r>
                        <a:rPr lang="en-US" sz="1500" b="1" dirty="0">
                          <a:solidFill>
                            <a:srgbClr val="1F2933"/>
                          </a:solidFill>
                          <a:latin typeface="Calibri" pitchFamily="34" charset="0"/>
                          <a:ea typeface="Calibri" pitchFamily="34" charset="-122"/>
                          <a:cs typeface="Calibri" pitchFamily="34" charset="-120"/>
                        </a:rPr>
                        <a:t>Structured model DP (ours)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500" b="1" dirty="0">
                          <a:solidFill>
                            <a:srgbClr val="1F2933"/>
                          </a:solidFill>
                          <a:latin typeface="Calibri" pitchFamily="34" charset="0"/>
                          <a:ea typeface="Calibri" pitchFamily="34" charset="-122"/>
                          <a:cs typeface="Calibri" pitchFamily="34" charset="-120"/>
                        </a:rPr>
                        <a:t>182.5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500" b="1" dirty="0">
                          <a:solidFill>
                            <a:srgbClr val="1F2933"/>
                          </a:solidFill>
                          <a:latin typeface="Calibri" pitchFamily="34" charset="0"/>
                          <a:ea typeface="Calibri" pitchFamily="34" charset="-122"/>
                          <a:cs typeface="Calibri" pitchFamily="34" charset="-120"/>
                        </a:rPr>
                        <a:t>173.2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500" b="1" dirty="0">
                          <a:solidFill>
                            <a:srgbClr val="1F2933"/>
                          </a:solidFill>
                          <a:latin typeface="Calibri" pitchFamily="34" charset="0"/>
                          <a:ea typeface="Calibri" pitchFamily="34" charset="-122"/>
                          <a:cs typeface="Calibri" pitchFamily="34" charset="-120"/>
                        </a:rPr>
                        <a:t>177.4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r>
            </a:tbl>
          </a:graphicData>
        </a:graphic>
      </p:graphicFrame>
      <p:sp>
        <p:nvSpPr>
          <p:cNvPr id="6" name="obs_bg"/>
          <p:cNvSpPr/>
          <p:nvPr/>
        </p:nvSpPr>
        <p:spPr>
          <a:xfrm>
            <a:off x="7726680" y="1417320"/>
            <a:ext cx="3916375" cy="4023360"/>
          </a:xfrm>
          <a:prstGeom prst="roundRect">
            <a:avLst>
              <a:gd name="adj" fmla="val 1868"/>
            </a:avLst>
          </a:prstGeom>
          <a:solidFill>
            <a:srgbClr val="EEF2F8"/>
          </a:solidFill>
          <a:ln w="12700">
            <a:solidFill>
              <a:srgbClr val="EEF2F8"/>
            </a:solidFill>
            <a:prstDash val="solid"/>
          </a:ln>
        </p:spPr>
      </p:sp>
      <p:sp>
        <p:nvSpPr>
          <p:cNvPr id="7" name="obs_head"/>
          <p:cNvSpPr txBox="1"/>
          <p:nvPr/>
        </p:nvSpPr>
        <p:spPr>
          <a:xfrm>
            <a:off x="7955280" y="1600200"/>
            <a:ext cx="345917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Observations</a:t>
            </a:r>
            <a:endParaRPr lang="en-US" sz="1800" dirty="0"/>
          </a:p>
        </p:txBody>
      </p:sp>
      <p:sp>
        <p:nvSpPr>
          <p:cNvPr id="8" name="obs_text"/>
          <p:cNvSpPr txBox="1"/>
          <p:nvPr/>
        </p:nvSpPr>
        <p:spPr>
          <a:xfrm>
            <a:off x="7955280" y="2057400"/>
            <a:ext cx="3459175" cy="3246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structured model has the highest return at all three rates.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Rising no-shows affect the guideline rule most: its return falls from 150.8 to 129.3.</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Policies are not retrained; only the recorded attendance outcomes are altered.</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Benefit of Planning Across Sessions Under Higher Demand</a:t>
            </a:r>
            <a:endParaRPr lang="en-US" sz="2800" dirty="0"/>
          </a:p>
        </p:txBody>
      </p:sp>
      <p:graphicFrame>
        <p:nvGraphicFramePr>
          <p:cNvPr id="16" name="demand"/>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371600"/>
                <a:gridCol w="1783080"/>
                <a:gridCol w="1783080"/>
                <a:gridCol w="1600200"/>
                <a:gridCol w="1874520"/>
                <a:gridCol w="1600200"/>
                <a:gridCol w="1078992"/>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Waiting cost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New patients per session</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DP on estimated MDP</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Best fixed booking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Single session optimiser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Structured model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Gain</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0.4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170.6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174.5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181.6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182.0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+0.2%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144.0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149.2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155.3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157.9</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0.4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111.8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160.1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160.0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168.4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+5.3%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42.3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110.7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94.6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126.1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+33.3%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bl>
          </a:graphicData>
        </a:graphic>
      </p:graphicFrame>
      <p:sp>
        <p:nvSpPr>
          <p:cNvPr id="6" name="text"/>
          <p:cNvSpPr txBox="1"/>
          <p:nvPr/>
        </p:nvSpPr>
        <p:spPr>
          <a:xfrm>
            <a:off x="548640" y="4160520"/>
            <a:ext cx="11094415" cy="210312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The single session optimiser considers only the current session, whereas the structured model also accounts for the effect of each decision on the waiting list in later sessions.</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This advantage grows with demand: the gain over the single session optimiser rises from +0.2% to +33.3%.</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DP on the estimated MDP deteriorates sharply in the busiest setting (42.3), because the actions it requires are rarely observed in the logs.</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A waiting cost of 0.4 with 1.5 new patients per session corresponds to Paper 7's setting (slide 12).</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Convergence of Monte Carlo Control and Q-learning</a:t>
            </a:r>
            <a:endParaRPr lang="en-US" sz="2800" dirty="0"/>
          </a:p>
        </p:txBody>
      </p:sp>
      <p:sp>
        <p:nvSpPr>
          <p:cNvPr id="5" name="fig_convergence_frame"/>
          <p:cNvSpPr/>
          <p:nvPr/>
        </p:nvSpPr>
        <p:spPr>
          <a:xfrm>
            <a:off x="548640" y="1417320"/>
            <a:ext cx="6126480" cy="4027552"/>
          </a:xfrm>
          <a:prstGeom prst="roundRect">
            <a:avLst>
              <a:gd name="adj" fmla="val 1362"/>
            </a:avLst>
          </a:prstGeom>
          <a:solidFill>
            <a:srgbClr val="FFFFFF"/>
          </a:solidFill>
          <a:ln w="9525">
            <a:solidFill>
              <a:srgbClr val="C9D2DE"/>
            </a:solidFill>
            <a:prstDash val="solid"/>
          </a:ln>
        </p:spPr>
      </p:sp>
      <p:pic>
        <p:nvPicPr>
          <p:cNvPr id="6" name="fig_convergence" descr="True return of the greedy policy during learning for Monte Carlo and Q-learning, on the estimated MDP and on the structured model">    </p:cNvPr>
          <p:cNvPicPr>
            <a:picLocks noChangeAspect="1"/>
          </p:cNvPicPr>
          <p:nvPr/>
        </p:nvPicPr>
        <p:blipFill>
          <a:blip r:embed="rId1"/>
          <a:stretch>
            <a:fillRect/>
          </a:stretch>
        </p:blipFill>
        <p:spPr>
          <a:xfrm>
            <a:off x="640080" y="1508760"/>
            <a:ext cx="5943600" cy="3844672"/>
          </a:xfrm>
          <a:prstGeom prst="rect">
            <a:avLst/>
          </a:prstGeom>
        </p:spPr>
      </p:pic>
      <p:sp>
        <p:nvSpPr>
          <p:cNvPr id="7" name="text"/>
          <p:cNvSpPr txBox="1"/>
          <p:nvPr/>
        </p:nvSpPr>
        <p:spPr>
          <a:xfrm>
            <a:off x="6903720" y="1417320"/>
            <a:ext cx="4739335" cy="48463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On the estimated MDP, MC converges to a return of 161.9 and Q-learning to 166.4.</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On the structured model, Q-learning reaches 175.5 and MC 169.6, against 182.5 for its DP solution.</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Q-learning approaches the DP solution more closely than MC on both models.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On the structured model, both learners settle within 18,000 of the 150,000 learning steps.</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Exploration Schedules</a:t>
            </a:r>
            <a:endParaRPr lang="en-US" sz="2800" dirty="0"/>
          </a:p>
        </p:txBody>
      </p:sp>
      <p:sp>
        <p:nvSpPr>
          <p:cNvPr id="5" name="fig_schedules_frame"/>
          <p:cNvSpPr/>
          <p:nvPr/>
        </p:nvSpPr>
        <p:spPr>
          <a:xfrm>
            <a:off x="548640" y="1417320"/>
            <a:ext cx="6492240" cy="3546097"/>
          </a:xfrm>
          <a:prstGeom prst="roundRect">
            <a:avLst>
              <a:gd name="adj" fmla="val 1547"/>
            </a:avLst>
          </a:prstGeom>
          <a:solidFill>
            <a:srgbClr val="FFFFFF"/>
          </a:solidFill>
          <a:ln w="9525">
            <a:solidFill>
              <a:srgbClr val="C9D2DE"/>
            </a:solidFill>
            <a:prstDash val="solid"/>
          </a:ln>
        </p:spPr>
      </p:sp>
      <p:pic>
        <p:nvPicPr>
          <p:cNvPr id="6" name="fig_schedules" descr="Normalised learning curves of Monte Carlo control and Q-learning for the five exploration schedules">    </p:cNvPr>
          <p:cNvPicPr>
            <a:picLocks noChangeAspect="1"/>
          </p:cNvPicPr>
          <p:nvPr/>
        </p:nvPicPr>
        <p:blipFill>
          <a:blip r:embed="rId1"/>
          <a:stretch>
            <a:fillRect/>
          </a:stretch>
        </p:blipFill>
        <p:spPr>
          <a:xfrm>
            <a:off x="640080" y="1508760"/>
            <a:ext cx="6309360" cy="3363217"/>
          </a:xfrm>
          <a:prstGeom prst="rect">
            <a:avLst/>
          </a:prstGeom>
        </p:spPr>
      </p:pic>
      <p:sp>
        <p:nvSpPr>
          <p:cNvPr id="7" name="text"/>
          <p:cNvSpPr txBox="1"/>
          <p:nvPr/>
        </p:nvSpPr>
        <p:spPr>
          <a:xfrm>
            <a:off x="7178040" y="1417320"/>
            <a:ext cx="4465015" cy="48463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Five schedules were compared for MC and Q-learning: constant ε = 0.1, exponential decay, a 1/k decay, near greedy (ε = 0.02) and optimistic initialisation.</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Learning curves are normalised so that 0 is the clinic's behaviour and 1 the optimum, and summarised by their mean value (AUC).</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No run reached 90% of the possible improvement (0 of 60): the learners level off near the fitted model's DP solution (126.6), below the optimum (144.9).</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For Q-learning, near greedy exploration was the slowest (AUC -0.16 against 0.29 for exponential decay).</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Exploration inside a fitted model cannot reveal actions absent from the logs, so the data, not the schedule, limit performance.</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05   IMPLEMENTATION AND DISCUSSION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Implementation and Reproducibility</a:t>
            </a:r>
            <a:endParaRPr lang="en-US" sz="2800" dirty="0"/>
          </a:p>
        </p:txBody>
      </p:sp>
      <p:sp>
        <p:nvSpPr>
          <p:cNvPr id="5" name="pipeline_bg"/>
          <p:cNvSpPr/>
          <p:nvPr/>
        </p:nvSpPr>
        <p:spPr>
          <a:xfrm>
            <a:off x="548640" y="1417320"/>
            <a:ext cx="6035040" cy="4206240"/>
          </a:xfrm>
          <a:prstGeom prst="roundRect">
            <a:avLst>
              <a:gd name="adj" fmla="val 1739"/>
            </a:avLst>
          </a:prstGeom>
          <a:solidFill>
            <a:srgbClr val="EEF2F8"/>
          </a:solidFill>
          <a:ln w="12700">
            <a:solidFill>
              <a:srgbClr val="EEF2F8"/>
            </a:solidFill>
            <a:prstDash val="solid"/>
          </a:ln>
        </p:spPr>
      </p:sp>
      <p:sp>
        <p:nvSpPr>
          <p:cNvPr id="6" name="pipeline_head"/>
          <p:cNvSpPr txBox="1"/>
          <p:nvPr/>
        </p:nvSpPr>
        <p:spPr>
          <a:xfrm>
            <a:off x="777240" y="1600200"/>
            <a:ext cx="557784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Software pipeline (Python)</a:t>
            </a:r>
            <a:endParaRPr lang="en-US" sz="1800" dirty="0"/>
          </a:p>
        </p:txBody>
      </p:sp>
      <p:sp>
        <p:nvSpPr>
          <p:cNvPr id="7" name="pipeline_text"/>
          <p:cNvSpPr txBox="1"/>
          <p:nvPr/>
        </p:nvSpPr>
        <p:spPr>
          <a:xfrm>
            <a:off x="777240" y="2057400"/>
            <a:ext cx="5577840" cy="3429000"/>
          </a:xfrm>
          <a:prstGeom prst="rect">
            <a:avLst/>
          </a:prstGeom>
          <a:noFill/>
          <a:ln/>
        </p:spPr>
        <p:txBody>
          <a:bodyPr wrap="square" lIns="0" tIns="0" rIns="0" bIns="0" rtlCol="0" anchor="t"/>
          <a:lstStyle/>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noshow_data.py: </a:t>
            </a:r>
            <a:r>
              <a:rPr lang="en-US" sz="1500" dirty="0">
                <a:solidFill>
                  <a:srgbClr val="1F2933"/>
                </a:solidFill>
                <a:latin typeface="Calibri" pitchFamily="34" charset="0"/>
                <a:ea typeface="Calibri" pitchFamily="34" charset="-122"/>
                <a:cs typeface="Calibri" pitchFamily="34" charset="-120"/>
              </a:rPr>
              <a:t>data cleaning, classifier training and construction of sessions.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real_clinic.py: </a:t>
            </a:r>
            <a:r>
              <a:rPr lang="en-US" sz="1500" dirty="0">
                <a:solidFill>
                  <a:srgbClr val="1F2933"/>
                </a:solidFill>
                <a:latin typeface="Calibri" pitchFamily="34" charset="0"/>
                <a:ea typeface="Calibri" pitchFamily="34" charset="-122"/>
                <a:cs typeface="Calibri" pitchFamily="34" charset="-120"/>
              </a:rPr>
              <a:t>the clinic MDP built from the real sessions.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planner.py: </a:t>
            </a:r>
            <a:r>
              <a:rPr lang="en-US" sz="1500" dirty="0">
                <a:solidFill>
                  <a:srgbClr val="1F2933"/>
                </a:solidFill>
                <a:latin typeface="Calibri" pitchFamily="34" charset="0"/>
                <a:ea typeface="Calibri" pitchFamily="34" charset="-122"/>
                <a:cs typeface="Calibri" pitchFamily="34" charset="-120"/>
              </a:rPr>
              <a:t>the structured model proposed in this work.</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rl_core.py, common.py, ideas.py: </a:t>
            </a:r>
            <a:r>
              <a:rPr lang="en-US" sz="1500" dirty="0">
                <a:solidFill>
                  <a:srgbClr val="1F2933"/>
                </a:solidFill>
                <a:latin typeface="Calibri" pitchFamily="34" charset="0"/>
                <a:ea typeface="Calibri" pitchFamily="34" charset="-122"/>
                <a:cs typeface="Calibri" pitchFamily="34" charset="-120"/>
              </a:rPr>
              <a:t>Paper 7's solvers and experiments, reused without modification.</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run_real.py: </a:t>
            </a:r>
            <a:r>
              <a:rPr lang="en-US" sz="1500" dirty="0">
                <a:solidFill>
                  <a:srgbClr val="1F2933"/>
                </a:solidFill>
                <a:latin typeface="Calibri" pitchFamily="34" charset="0"/>
                <a:ea typeface="Calibri" pitchFamily="34" charset="-122"/>
                <a:cs typeface="Calibri" pitchFamily="34" charset="-120"/>
              </a:rPr>
              <a:t>executes all experiments and writes results.json and the figures.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paper07_v3.py, paper07_v4.py: </a:t>
            </a:r>
            <a:r>
              <a:rPr lang="en-US" sz="1500" dirty="0">
                <a:solidFill>
                  <a:srgbClr val="1F2933"/>
                </a:solidFill>
                <a:latin typeface="Calibri" pitchFamily="34" charset="0"/>
                <a:ea typeface="Calibri" pitchFamily="34" charset="-122"/>
                <a:cs typeface="Calibri" pitchFamily="34" charset="-120"/>
              </a:rPr>
              <a:t>generate the paper from results.json; check scripts verify it.</a:t>
            </a:r>
            <a:endParaRPr lang="en-US" sz="1500" dirty="0"/>
          </a:p>
        </p:txBody>
      </p:sp>
      <p:sp>
        <p:nvSpPr>
          <p:cNvPr id="8" name="tools_bg"/>
          <p:cNvSpPr/>
          <p:nvPr/>
        </p:nvSpPr>
        <p:spPr>
          <a:xfrm>
            <a:off x="6812280" y="1417320"/>
            <a:ext cx="4830775" cy="4206240"/>
          </a:xfrm>
          <a:prstGeom prst="roundRect">
            <a:avLst>
              <a:gd name="adj" fmla="val 1739"/>
            </a:avLst>
          </a:prstGeom>
          <a:solidFill>
            <a:srgbClr val="EEF2F8"/>
          </a:solidFill>
          <a:ln w="12700">
            <a:solidFill>
              <a:srgbClr val="EEF2F8"/>
            </a:solidFill>
            <a:prstDash val="solid"/>
          </a:ln>
        </p:spPr>
      </p:sp>
      <p:sp>
        <p:nvSpPr>
          <p:cNvPr id="9" name="tools_head"/>
          <p:cNvSpPr txBox="1"/>
          <p:nvPr/>
        </p:nvSpPr>
        <p:spPr>
          <a:xfrm>
            <a:off x="7040880" y="1600200"/>
            <a:ext cx="437357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Models, tools and reproducibility</a:t>
            </a:r>
            <a:endParaRPr lang="en-US" sz="1800" dirty="0"/>
          </a:p>
        </p:txBody>
      </p:sp>
      <p:sp>
        <p:nvSpPr>
          <p:cNvPr id="10" name="tools_text"/>
          <p:cNvSpPr txBox="1"/>
          <p:nvPr/>
        </p:nvSpPr>
        <p:spPr>
          <a:xfrm>
            <a:off x="7040880" y="2057400"/>
            <a:ext cx="4373575" cy="3429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Gradient boosting classifier with isotonic calibration (scikit-learn).</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Value iteration, Monte Carlo control and Q-learning from Paper 7's rl_core module.</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numpy, scipy, matplotlib and python-docx.</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Code: </a:t>
            </a:r>
            <a:r>
              <a:rPr lang="en-US" sz="1500" dirty="0">
                <a:solidFill>
                  <a:srgbClr val="1F2933"/>
                </a:solidFill>
                <a:latin typeface="Calibri" pitchFamily="34" charset="0"/>
                <a:ea typeface="Calibri" pitchFamily="34" charset="-122"/>
                <a:cs typeface="Calibri" pitchFamily="34" charset="-120"/>
              </a:rPr>
              <a:t>github.com/Nagasai-Datta/ml_lab, folder topic7.</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Reproduction: </a:t>
            </a:r>
            <a:r>
              <a:rPr lang="en-US" sz="1500" dirty="0">
                <a:solidFill>
                  <a:srgbClr val="1F2933"/>
                </a:solidFill>
                <a:latin typeface="Calibri" pitchFamily="34" charset="0"/>
                <a:ea typeface="Calibri" pitchFamily="34" charset="-122"/>
                <a:cs typeface="Calibri" pitchFamily="34" charset="-120"/>
              </a:rPr>
              <a:t>python topic7/code/run_real.py reruns every experiment with fixed random seeds.</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05   IMPLEMENTATION AND DISCUSSION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Limitations</a:t>
            </a:r>
            <a:endParaRPr lang="en-US" sz="2800" dirty="0"/>
          </a:p>
        </p:txBody>
      </p:sp>
      <p:sp>
        <p:nvSpPr>
          <p:cNvPr id="5" name="Text 1"/>
          <p:cNvSpPr/>
          <p:nvPr>
            <p:ph idx="103" type="body" hasCustomPrompt="1"/>
          </p:nvPr>
        </p:nvSpPr>
        <p:spPr>
          <a:xfrm>
            <a:off x="548640" y="1417320"/>
            <a:ext cx="11094415" cy="480060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Only attendance is observed in the data; the overbooking decisions in the logs are generated and the waiting list is simulated.</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structured model assumes that the clinic's rules (slots, reward weights and waiting list dynamics) are known.</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Only about 9% of real sessions have fewer than 10 bookings, so the slots filled component of the state rarely varies.</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no-show rate drifted from 21.2% to 18.5% between periods; the classifier predicts 22.0% against 19.8% observed.</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Waiting is measured by the length of the waiting list, as the dataset records no times within a day.</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published baselines are simplified implementations whose settings were tuned on the scoring sessions, which favours them.</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findings concern algorithms rather than clinical practice, and no clinical claim is made.</a:t>
            </a:r>
            <a:endParaRPr lang="en-US"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05   IMPLEMENTATION AND DISCUSSION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Conclusions and Future Work</a:t>
            </a:r>
            <a:endParaRPr lang="en-US" sz="2800" dirty="0"/>
          </a:p>
        </p:txBody>
      </p:sp>
      <p:sp>
        <p:nvSpPr>
          <p:cNvPr id="5" name="conclusions_bg"/>
          <p:cNvSpPr/>
          <p:nvPr/>
        </p:nvSpPr>
        <p:spPr>
          <a:xfrm>
            <a:off x="548640" y="1417320"/>
            <a:ext cx="11094415" cy="2743200"/>
          </a:xfrm>
          <a:prstGeom prst="roundRect">
            <a:avLst>
              <a:gd name="adj" fmla="val 2667"/>
            </a:avLst>
          </a:prstGeom>
          <a:solidFill>
            <a:srgbClr val="EEF2F8"/>
          </a:solidFill>
          <a:ln w="12700">
            <a:solidFill>
              <a:srgbClr val="EEF2F8"/>
            </a:solidFill>
            <a:prstDash val="solid"/>
          </a:ln>
        </p:spPr>
      </p:sp>
      <p:sp>
        <p:nvSpPr>
          <p:cNvPr id="6" name="conclusions_head"/>
          <p:cNvSpPr txBox="1"/>
          <p:nvPr/>
        </p:nvSpPr>
        <p:spPr>
          <a:xfrm>
            <a:off x="777240" y="160020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Conclusions</a:t>
            </a:r>
            <a:endParaRPr lang="en-US" sz="1800" dirty="0"/>
          </a:p>
        </p:txBody>
      </p:sp>
      <p:sp>
        <p:nvSpPr>
          <p:cNvPr id="7" name="conclusions_text"/>
          <p:cNvSpPr txBox="1"/>
          <p:nvPr/>
        </p:nvSpPr>
        <p:spPr>
          <a:xfrm>
            <a:off x="777240" y="2057400"/>
            <a:ext cx="10637215" cy="19659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On the real sessions, Paper 7's DP, MC and Q-learning outperform the guideline rule (170.3, 162.8 and 167.0 against 150.8) but remain below the oracle (173.6), which shows that the logged data are the limiting factor.</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Learning only patient behaviour removes this limitation: the structured model attains 182.5 and remains the best method when the no-show rate rises or falls, with as few as 25 logged days.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Its advantage over the strongest published baseline increases from +0.2% to +33.3% as pressure on the waiting list grows.</a:t>
            </a:r>
            <a:endParaRPr lang="en-US" sz="1600" dirty="0"/>
          </a:p>
        </p:txBody>
      </p:sp>
      <p:sp>
        <p:nvSpPr>
          <p:cNvPr id="8" name="future_bg"/>
          <p:cNvSpPr/>
          <p:nvPr/>
        </p:nvSpPr>
        <p:spPr>
          <a:xfrm>
            <a:off x="548640" y="4389120"/>
            <a:ext cx="11094415" cy="1828800"/>
          </a:xfrm>
          <a:prstGeom prst="roundRect">
            <a:avLst>
              <a:gd name="adj" fmla="val 4000"/>
            </a:avLst>
          </a:prstGeom>
          <a:solidFill>
            <a:srgbClr val="F8EEDA"/>
          </a:solidFill>
          <a:ln w="12700">
            <a:solidFill>
              <a:srgbClr val="F8EEDA"/>
            </a:solidFill>
            <a:prstDash val="solid"/>
          </a:ln>
        </p:spPr>
      </p:sp>
      <p:sp>
        <p:nvSpPr>
          <p:cNvPr id="9" name="future_head"/>
          <p:cNvSpPr txBox="1"/>
          <p:nvPr/>
        </p:nvSpPr>
        <p:spPr>
          <a:xfrm>
            <a:off x="777240" y="457200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Future work</a:t>
            </a:r>
            <a:endParaRPr lang="en-US" sz="1800" dirty="0"/>
          </a:p>
        </p:txBody>
      </p:sp>
      <p:sp>
        <p:nvSpPr>
          <p:cNvPr id="10" name="future_text"/>
          <p:cNvSpPr txBox="1"/>
          <p:nvPr/>
        </p:nvSpPr>
        <p:spPr>
          <a:xfrm>
            <a:off x="777240" y="5029200"/>
            <a:ext cx="10637215" cy="10515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Collect logs in which the number of additional bookings is varied deliberately.</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Measure overtime and waiting from recorded visit times.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Estimate the reward weights and waiting list dynamics from clinic records rather than assuming them.</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REFERENCES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References</a:t>
            </a:r>
            <a:endParaRPr lang="en-US" sz="2800" dirty="0"/>
          </a:p>
        </p:txBody>
      </p:sp>
      <p:sp>
        <p:nvSpPr>
          <p:cNvPr id="5" name="refs_left"/>
          <p:cNvSpPr txBox="1"/>
          <p:nvPr/>
        </p:nvSpPr>
        <p:spPr>
          <a:xfrm>
            <a:off x="548640" y="1325880"/>
            <a:ext cx="5440680" cy="4937760"/>
          </a:xfrm>
          <a:prstGeom prst="rect">
            <a:avLst/>
          </a:prstGeom>
          <a:noFill/>
          <a:ln/>
        </p:spPr>
        <p:txBody>
          <a:bodyPr wrap="square" lIns="0" tIns="0" rIns="0" bIns="0" rtlCol="0" anchor="t"/>
          <a:lstStyle/>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 Gupta, D. and Denton, B. Appointment scheduling in health care: challenges and opportunities. IIE Transactions 40(9):800-819, 2008.</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[2] Zacharias, C. and Pinedo, M. Appointment scheduling with no-shows and overbooking. Production and Operations Management 23(5):788-801, 2014.</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[3] Sutton, R. S. and Barto, A. G. Reinforcement Learning: An Introduction, 2nd ed. MIT Press, 2018.</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[4] Singh, S., Jaakkola, T., Littman, M. L. and Szepesvari, C. Convergence results for single-step on-policy reinforcement-learning algorithms. Machine Learning 38(3):287-308, 2000.</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[5] Brafman, R. I. and Tennenholtz, M. R-max - a general polynomial time algorithm for near-optimal reinforcement learning. Journal of Machine Learning Research 3:213-231, 2002.</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[6] Topuz, K., Urban, T. L., Russell, R. A. and Yildirim, M. B. Decision support system for appointment scheduling and overbooking under patient no-show behavior. Annals of Operations Research 342(1):845-873, 2024.</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[7] Amalina, N. N. and An, H. Adaptive double-booking strategy for outpatient scheduling using multi-objective reinforcement learning. arXiv:2603.07270, 2026.</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[8] Watkins, C. J. C. H. and Dayan, P. Q-learning. Machine Learning 8(3-4):279-292, 1992.</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[9] Even-Dar, E. and Mansour, Y. Learning rates for Q-learning. Journal of Machine Learning Research 5:1-25, 2003.</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[10] Levine, S., Kumar, A., Tucker, G. and Fu, J. Offline reinforcement learning: tutorial, review, and perspectives on open problems. arXiv:2005.01643, 2020.</a:t>
            </a:r>
            <a:endParaRPr lang="en-US" sz="1200" dirty="0"/>
          </a:p>
        </p:txBody>
      </p:sp>
      <p:sp>
        <p:nvSpPr>
          <p:cNvPr id="6" name="refs_right"/>
          <p:cNvSpPr txBox="1"/>
          <p:nvPr/>
        </p:nvSpPr>
        <p:spPr>
          <a:xfrm>
            <a:off x="6199632" y="1325880"/>
            <a:ext cx="5440680" cy="4937760"/>
          </a:xfrm>
          <a:prstGeom prst="rect">
            <a:avLst/>
          </a:prstGeom>
          <a:noFill/>
          <a:ln/>
        </p:spPr>
        <p:txBody>
          <a:bodyPr wrap="square" lIns="0" tIns="0" rIns="0" bIns="0" rtlCol="0" anchor="t"/>
          <a:lstStyle/>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[11] Jin, Y., Yang, Z. and Wang, Z. Is pessimism provably efficient for offline RL? Proceedings of the 38th International Conference on Machine Learning (ICML), 2021.</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[12] Kumar, A., Zhou, A., Tucker, G. and Levine, S. Conservative Q-learning for offline reinforcement learning. Advances in Neural Information Processing Systems 33, 2020.</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[13] Boutilier, C., Dearden, R. and Goldszmidt, M. Stochastic dynamic programming with factored representations. Artificial Intelligence 121(1-2):49-107, 2000.</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[14] Bellman, R. Dynamic Programming. Princeton University Press, 1957.</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[15] Puterman, M. L. Markov Decision Processes: Discrete Stochastic Dynamic Programming. Wiley, 1994.</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[16] Singh, S. P. and Sutton, R. S. Reinforcement learning with replacing eligibility traces. Machine Learning 22:123-158, 1996.</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[17] Hoppen, J. Medical appointment no shows. Kaggle dataset, kaggle.com/datasets/joniarroba/noshowappointments, 2016.</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[18] Friedman, J. H. Greedy function approximation: a gradient boosting machine. Annals of Statistics 29(5):1189-1232, 2001.</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[19] Zadrozny, B. and Elkan, C. Transforming classifier scores into accurate multiclass probability estimates. Proceedings of the 8th ACM SIGKDD International Conference on Knowledge Discovery and Data Mining (KDD), 2002.</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[20] Pedregosa, F. et al. Scikit-learn: machine learning in Python. Journal of Machine Learning Research 12:2825-2830, 2011.</a:t>
            </a:r>
            <a:endParaRPr lang="en-US"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23BCE0757_THEORY_DA</dc:title>
  <dc:subject>PptxGenJS Presentation</dc:subject>
  <dc:creator>Marupaka Naga Sai Dattu, Prakrit Bahl</dc:creator>
  <cp:lastModifiedBy>Marupaka Naga Sai Dattu, Prakrit Bahl</cp:lastModifiedBy>
  <cp:revision>1</cp:revision>
  <dcterms:created xsi:type="dcterms:W3CDTF">2026-10-21T15:02:15Z</dcterms:created>
  <dcterms:modified xsi:type="dcterms:W3CDTF">2026-10-21T15:02:15Z</dcterms:modified>
</cp:coreProperties>
</file>